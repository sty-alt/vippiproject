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c020a543da496c" /><Relationship Type="http://schemas.openxmlformats.org/officeDocument/2006/relationships/extended-properties" Target="/docProps/app.xml" Id="R0757fd6e96dd4d03" /><Relationship Type="http://schemas.openxmlformats.org/officeDocument/2006/relationships/officeDocument" Target="/ppt/presentation.xml" Id="Rf06cc1e0dfd8430f" /></Relationships>
</file>

<file path=ppt/presentation.xml><?xml version="1.0" encoding="utf-8"?>
<p:presentation xmlns:p="http://schemas.openxmlformats.org/presentationml/2006/main">
  <p:sldMasterIdLst>
    <p:sldMasterId xmlns:r="http://schemas.openxmlformats.org/officeDocument/2006/relationships" id="2147483648" r:id="Rc920103a2a8a4109"/>
  </p:sldMasterIdLst>
  <p:notesMasterIdLst>
    <p:notesMasterId xmlns:r="http://schemas.openxmlformats.org/officeDocument/2006/relationships" r:id="R762689e47f314996"/>
  </p:notesMasterIdLst>
  <p:sldIdLst>
    <p:sldId xmlns:r="http://schemas.openxmlformats.org/officeDocument/2006/relationships" id="256" r:id="R3b3aa93f73f74b08"/>
    <p:sldId xmlns:r="http://schemas.openxmlformats.org/officeDocument/2006/relationships" id="257" r:id="Rba4876e5452746d5"/>
    <p:sldId xmlns:r="http://schemas.openxmlformats.org/officeDocument/2006/relationships" id="258" r:id="R5ee2537a31054a93"/>
    <p:sldId xmlns:r="http://schemas.openxmlformats.org/officeDocument/2006/relationships" id="259" r:id="R3486808a4aa44607"/>
    <p:sldId xmlns:r="http://schemas.openxmlformats.org/officeDocument/2006/relationships" id="260" r:id="R168e963b86cf4afb"/>
    <p:sldId xmlns:r="http://schemas.openxmlformats.org/officeDocument/2006/relationships" id="261" r:id="R4276d352cd004f0d"/>
    <p:sldId xmlns:r="http://schemas.openxmlformats.org/officeDocument/2006/relationships" id="262" r:id="Rae139c1da1704772"/>
    <p:sldId xmlns:r="http://schemas.openxmlformats.org/officeDocument/2006/relationships" id="263" r:id="R353919092ebf483b"/>
    <p:sldId xmlns:r="http://schemas.openxmlformats.org/officeDocument/2006/relationships" id="264" r:id="R88283f9affaf4426"/>
    <p:sldId xmlns:r="http://schemas.openxmlformats.org/officeDocument/2006/relationships" id="265" r:id="Rf7b74a4e6d9240b6"/>
    <p:sldId xmlns:r="http://schemas.openxmlformats.org/officeDocument/2006/relationships" id="266" r:id="Re2c563deb581448e"/>
    <p:sldId xmlns:r="http://schemas.openxmlformats.org/officeDocument/2006/relationships" id="267" r:id="R4e12ab8e86b2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3486922c75461c" /><Relationship Type="http://schemas.openxmlformats.org/officeDocument/2006/relationships/slideMaster" Target="/ppt/slideMasters/slideMaster1.xml" Id="Rc920103a2a8a4109" /><Relationship Type="http://schemas.openxmlformats.org/officeDocument/2006/relationships/notesMaster" Target="/ppt/notesMasters/notesMaster1.xml" Id="R762689e47f314996" /><Relationship Type="http://schemas.openxmlformats.org/officeDocument/2006/relationships/presProps" Target="/ppt/presProps.xml" Id="R67d4f89ab6b94d40" /><Relationship Type="http://schemas.openxmlformats.org/officeDocument/2006/relationships/tableStyles" Target="/ppt/tableStyles.xml" Id="Re8e2cb129d9148ae" /><Relationship Type="http://schemas.openxmlformats.org/officeDocument/2006/relationships/slide" Target="/ppt/slides/slide1.xml" Id="R3b3aa93f73f74b08" /><Relationship Type="http://schemas.openxmlformats.org/officeDocument/2006/relationships/slide" Target="/ppt/slides/slide2.xml" Id="Rba4876e5452746d5" /><Relationship Type="http://schemas.openxmlformats.org/officeDocument/2006/relationships/slide" Target="/ppt/slides/slide3.xml" Id="R5ee2537a31054a93" /><Relationship Type="http://schemas.openxmlformats.org/officeDocument/2006/relationships/slide" Target="/ppt/slides/slide4.xml" Id="R3486808a4aa44607" /><Relationship Type="http://schemas.openxmlformats.org/officeDocument/2006/relationships/slide" Target="/ppt/slides/slide5.xml" Id="R168e963b86cf4afb" /><Relationship Type="http://schemas.openxmlformats.org/officeDocument/2006/relationships/slide" Target="/ppt/slides/slide6.xml" Id="R4276d352cd004f0d" /><Relationship Type="http://schemas.openxmlformats.org/officeDocument/2006/relationships/slide" Target="/ppt/slides/slide7.xml" Id="Rae139c1da1704772" /><Relationship Type="http://schemas.openxmlformats.org/officeDocument/2006/relationships/slide" Target="/ppt/slides/slide8.xml" Id="R353919092ebf483b" /><Relationship Type="http://schemas.openxmlformats.org/officeDocument/2006/relationships/slide" Target="/ppt/slides/slide9.xml" Id="R88283f9affaf4426" /><Relationship Type="http://schemas.openxmlformats.org/officeDocument/2006/relationships/slide" Target="/ppt/slides/slide10.xml" Id="Rf7b74a4e6d9240b6" /><Relationship Type="http://schemas.openxmlformats.org/officeDocument/2006/relationships/slide" Target="/ppt/slides/slide11.xml" Id="Re2c563deb581448e" /><Relationship Type="http://schemas.openxmlformats.org/officeDocument/2006/relationships/slide" Target="/ppt/slides/slide12.xml" Id="R4e12ab8e86b245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e61d578a7a41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dd8f0e571e4bb3" /><Relationship Type="http://schemas.openxmlformats.org/officeDocument/2006/relationships/notesMaster" Target="/ppt/notesMasters/notesMaster1.xml" Id="R40e7ef28899d41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e09d5b5dbc4dc0" /><Relationship Type="http://schemas.openxmlformats.org/officeDocument/2006/relationships/notesMaster" Target="/ppt/notesMasters/notesMaster1.xml" Id="R92cf678ea57a46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be5ea6d8c746cc" /><Relationship Type="http://schemas.openxmlformats.org/officeDocument/2006/relationships/notesMaster" Target="/ppt/notesMasters/notesMaster1.xml" Id="R6272ad7d52eb45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779ec72e2e4bad" /><Relationship Type="http://schemas.openxmlformats.org/officeDocument/2006/relationships/notesMaster" Target="/ppt/notesMasters/notesMaster1.xml" Id="Re13f624eb57844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bef4897497487d" /><Relationship Type="http://schemas.openxmlformats.org/officeDocument/2006/relationships/notesMaster" Target="/ppt/notesMasters/notesMaster1.xml" Id="R6de182492d9c44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74ca055eef4ae1" /><Relationship Type="http://schemas.openxmlformats.org/officeDocument/2006/relationships/notesMaster" Target="/ppt/notesMasters/notesMaster1.xml" Id="R5999d6a3305c44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7118e5e1964147" /><Relationship Type="http://schemas.openxmlformats.org/officeDocument/2006/relationships/notesMaster" Target="/ppt/notesMasters/notesMaster1.xml" Id="R1e3d8c5ced1c47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924b7432314e8c" /><Relationship Type="http://schemas.openxmlformats.org/officeDocument/2006/relationships/notesMaster" Target="/ppt/notesMasters/notesMaster1.xml" Id="Rf20ef5f0c68d42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8c9a5223bb495d" /><Relationship Type="http://schemas.openxmlformats.org/officeDocument/2006/relationships/notesMaster" Target="/ppt/notesMasters/notesMaster1.xml" Id="R20bccb67deea4e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cb438979f9476b" /><Relationship Type="http://schemas.openxmlformats.org/officeDocument/2006/relationships/notesMaster" Target="/ppt/notesMasters/notesMaster1.xml" Id="Re405d942511a4d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96807f572b44c5" /><Relationship Type="http://schemas.openxmlformats.org/officeDocument/2006/relationships/notesMaster" Target="/ppt/notesMasters/notesMaster1.xml" Id="R84a856fb10f74d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c9e81349bb4582" /><Relationship Type="http://schemas.openxmlformats.org/officeDocument/2006/relationships/notesMaster" Target="/ppt/notesMasters/notesMaster1.xml" Id="Re2a43280a19d45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Согласовано помогает небольшой мастерской в Ташкенте согласовать ремонт ноутбука или телефона. Мастер вводит работы и условия, отправляет клиенту ссылку вручную и получает ответ в кабинете. Продукт реализован как работающий локальный MVP с настоящей PostgreSQL. На экране показан реальный интерфейс с вымышленными данными. В этой демонстрации разберём подготовку сметы, решение клиента, версии, роль AI и способ запуска. Сервис не опубликован в интернете. Проверяющий может запустить его по инструкции и самостоятельно пройти тот же сценарий.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Предполагаемая проблема состоит в том, что условия ремонта часто обсуждают в переписке или по телефону. Мастеру важно объяснить, какие работы нужны, сколько они стоят и что именно согласовал клиент. Начальная аудитория состоит из небольших мастерских, где владелец сам ведёт общение. Продукт не требует внедрения склада, кассы и большой CRM. Пока это гипотеза, а не результат исследования. Интервью и продажи ещё не проводились. План пилота должен проверить, ускоряет ли сервис подготовку смет и помогает ли получать понятный ответ клиента.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продукте оставлены три сценария. Сначала мастер составляет и проверяет смету. Затем клиент открывает ссылку без регистрации, задаёт вопрос, согласует ремонт или отказывается. После этого владелец видит ответ, обсуждение и историю конкретной версии. Отправка ссылки в Telegram выполняется вручную. Автоматического бота и оплаты нет. Такой объём позволяет проверить основную ценность за короткий срок. Все действия проходят через сервер и сохраняются в PostgreSQL. AI не обязателен для прохождения сценария и не принимает решения за мастера или клиента.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Кабинет показывает номер сметы, устройство, клиента, сумму, дату и статус. Есть поиск по номеру, устройству и имени, а также фильтр по статусу. На телефоне строки превращаются в карточки. На снимке показаны результаты реального сквозного теста с вымышленными устройствами. Если клиент задаёт вопрос, мастер видит, что нужен ответ. После согласования или отказа статус меняется. Данные разных мастерских изолированы на сервере. Пустой кабинет не содержит фиктивных записей, а демоданные загружаются отдельным явным действием при демонстрационном запуске.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 создании сметы мастер вводит имя клиента и устройство, добавляет позиции работ и деталей, указывает срок и гарантию. Внутренняя заметка видна только владельцу. Для клиента есть отдельное объяснение простыми словами. Его можно написать вручную. AI, если настроен, предлагает отдельный черновик, который мастер проверяет и явно переносит в объяснение. Предпросмотр не публикует смету и не создаёт действующую ссылку. Уход со страницы с несохранёнными изменениями вызывает предупреждение. На снимке видна форма настоящего приложения, а не макет, заменяющий серверное сохранение.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Пример из задания содержит две позиции. Чистка стоит сто восемьдесят тысяч сум, а замена кулера двести двадцать тысяч. При количестве одна единица итог составляет четыреста тысяч сум. Этот итог считает обычный серверный код из проверенных позиций. Значение из браузера не принимается на доверии. Количество и цены ограничены, деньги хранятся целыми числами, превышение итоговой границы отклоняется. Срок и гарантия отображаются из полей сметы. AI не управляет финансовыми условиями. После публикации именно этот снимок условий относится к конкретной версии и решению клиента.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Клиент получает мобильную страницу с названием мастерской, устройством, объяснением, позициями и итогом. Перед согласованием он ещё раз видит сумму и подтверждает, что ознакомился с условиями. Можно отказаться либо задать вопрос. Вопрос сохраняется в базе и блокирует окончательное решение до ответа мастерской. После ответа действия возвращаются. Повторно изменить принятое решение в той же версии нельзя. Кнопка фиксирует ответ держателя ссылки без проверки его личности. Это не квалифицированная электронная подпись. На экране показана реальная страница клиента после ответа мастера на вопрос.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Если нужно изменить опубликованную цену, мастер создаёт новый черновик на основе текущей версии. Пока он не опубликован, старая ссылка остаётся действующей. При публикации новой версии старая заменяется в одной транзакции, а для новой выпускается отдельная ссылка. Прежние условия, вопросы и решение сохраняются. Если клиент согласовал старую версию первым, это решение не теряется. Новую цену он должен согласовать отдельно. Конкурентное согласование и публикация используют одну блокировку сметы в PostgreSQL. Поэтому результат соответствует порядку завершённых транзакций, а повторные запросы не создают несколько решений.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получает техническую заметку и названия работ. Имя клиента, цены, количество, срок и гарантия из отдельных полей не передаются. Очевидные телефоны и email в заметке удаляются, но это не гарантированная анонимизация произвольного текста. Сервер ограничивает размер запроса и время ожидания, проверяет структуру ответа и обрабатывает ошибку без потери формы. Результат остаётся отдельным черновиком. Реальный AI API пока не проверен, потому что ключ отсутствует. Проверен HTTP-адаптер с тестовым сервером, включая неправильную структуру и отказ провайдера. Без AI смету можно создать и опубликовать вручную.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Функция согласования не уникальна. RepairDesk документирует сметы, согласование или отказ и уведомления. Orderry предлагает публичные формы, электронные подписи и перевод сметы в заказ. Jobber использует клиентский кабинет для согласования предложений и запроса изменений. Эти сведения проверены по официальным страницам, ссылки приведены в продуктовом документе и заметках презентации. Согласовано выбирает более узкий сценарий для мастерских Ташкента. Его предполагаемое отличие состоит в простом запуске, понятном тексте, суммах в сумах и коротком пути клиента. Преимущество по скорости пока не измерено и должно проверяться в пилоте.</a:t>
            </a:r>
          </a:p>
          <a:p xmlns:a="http://schemas.openxmlformats.org/drawingml/2006/main">
            <a:br/>
            <a:r>
              <a:t>Источники, проверены 13.10.2026: https://docs.repairdesk.co/estimate_module ; https://orderry.com/job-estimating-software-20313/ ; https://getjobber.zendesk.com/hc/en-us/articles/115012715008-Quote-Approvals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Цена сто девяносто девять тысяч сум в месяц является гипотезой. Подписки и биллинг в MVP не реализованы. План первых продаж начинается с коротких личных демонстраций владельцам небольших мастерских. Можно составить список из пятнадцати или двадцати потенциальных участников, договориться о трёх или пяти пилотах и помочь пройти первое согласование. Во время двухнедельного пилота сравниваются время подготовки сметы и время до ответа с исходным процессом. После пилота предлагается платное продолжение и фиксируются причины согласия или отказа. Это план, а не уже достигнутые продажи или результаты интервью.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проверяющего подготовлен запуск одним файлом START DEMO на Windows или командой npm run demo. Нужен установленный Node.js. Скрипт устанавливает зависимости, создаёт локальные секреты, поднимает отдельную PostgreSQL, применяет миграции, загружает вымышленные демоданные и собирает приложение. На Windows Docker не обязателен. На других системах нужен Docker Compose либо заранее настроенная PostgreSQL. Сценарий проверен модульными, интеграционными и браузерными тестами. Внешнего размещения и проверки настоящей AI-модели пока нет. Исходники, документы и эта презентация входят в комплект сдачи. Проверяющий может повторить создание, публикацию и ответ клиента самостоятельно.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e63cac23834c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a7781272b04e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6c266da2ce41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a7391983ba44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ee32afa1ac42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fc6698175a4e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85136-FF50-4C60-A9CF-9035C31C3F9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94724A-27BF-40F9-9458-BB55883669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57AE34-B862-4348-8444-A4D8B83280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D55A4F-E207-4E68-A97A-847AC45975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A83149-3E2A-4EBB-B4C7-B5FE48FA276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19A53F-7BE9-47A4-8F8A-DDB120480E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E1536B-D2F2-41E0-938D-D4CC49200E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9B34AC-C4A8-4493-A1F7-CD070F6E2B7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577BEA-B815-4695-911B-152E8A0751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96226F-3248-44EC-81A1-1A06586723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28ee26562445ea" /><Relationship Type="http://schemas.openxmlformats.org/officeDocument/2006/relationships/slideLayout" Target="/ppt/slideLayouts/slideLayout1.xml" Id="R66404d03fe824f55" /><Relationship Type="http://schemas.openxmlformats.org/officeDocument/2006/relationships/slideLayout" Target="/ppt/slideLayouts/slideLayout2.xml" Id="R2651074b32bb461f" /><Relationship Type="http://schemas.openxmlformats.org/officeDocument/2006/relationships/slideLayout" Target="/ppt/slideLayouts/slideLayout3.xml" Id="Rde4d69d50a2845d6" /><Relationship Type="http://schemas.openxmlformats.org/officeDocument/2006/relationships/slideLayout" Target="/ppt/slideLayouts/slideLayout4.xml" Id="R76d1054c542c4d34" /><Relationship Type="http://schemas.openxmlformats.org/officeDocument/2006/relationships/slideLayout" Target="/ppt/slideLayouts/slideLayout5.xml" Id="R9dcb2bcb28404b14" /><Relationship Type="http://schemas.openxmlformats.org/officeDocument/2006/relationships/slideLayout" Target="/ppt/slideLayouts/slideLayout6.xml" Id="R28e95c6708ed4c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404d03fe824f55"/>
    <p:sldLayoutId xmlns:r="http://schemas.openxmlformats.org/officeDocument/2006/relationships" id="2147483650" r:id="R2651074b32bb461f"/>
    <p:sldLayoutId xmlns:r="http://schemas.openxmlformats.org/officeDocument/2006/relationships" id="2147483651" r:id="Rde4d69d50a2845d6"/>
    <p:sldLayoutId xmlns:r="http://schemas.openxmlformats.org/officeDocument/2006/relationships" id="2147483652" r:id="R76d1054c542c4d34"/>
    <p:sldLayoutId xmlns:r="http://schemas.openxmlformats.org/officeDocument/2006/relationships" id="2147483653" r:id="R9dcb2bcb28404b14"/>
    <p:sldLayoutId xmlns:r="http://schemas.openxmlformats.org/officeDocument/2006/relationships" id="2147483654" r:id="R28e95c6708ed4c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75e31f45884395" /><Relationship Type="http://schemas.openxmlformats.org/officeDocument/2006/relationships/image" Target="/ppt/media/image.png" Id="Rd2a822d15820422d" /><Relationship Type="http://schemas.openxmlformats.org/officeDocument/2006/relationships/notesSlide" Target="/ppt/notesSlides/notesSlide1.xml" Id="Ra7373723ec2641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a7b0d7f5474a69" /><Relationship Type="http://schemas.openxmlformats.org/officeDocument/2006/relationships/notesSlide" Target="/ppt/notesSlides/notesSlide2.xml" Id="R9a724987b37d45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5234d57de64801" /><Relationship Type="http://schemas.openxmlformats.org/officeDocument/2006/relationships/notesSlide" Target="/ppt/notesSlides/notesSlide3.xml" Id="Rcebc27bec2ae4e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6381994a7741b8" /><Relationship Type="http://schemas.openxmlformats.org/officeDocument/2006/relationships/image" Target="/ppt/media/image2.png" Id="R3ad38d74cf004f18" /><Relationship Type="http://schemas.openxmlformats.org/officeDocument/2006/relationships/notesSlide" Target="/ppt/notesSlides/notesSlide4.xml" Id="Re787946ec03548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999fed7c3f469c" /><Relationship Type="http://schemas.openxmlformats.org/officeDocument/2006/relationships/image" Target="/ppt/media/image3.png" Id="R35d4b4daf71744ae" /><Relationship Type="http://schemas.openxmlformats.org/officeDocument/2006/relationships/notesSlide" Target="/ppt/notesSlides/notesSlide5.xml" Id="Re2555e2658694e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a4cd749470f41c8" /><Relationship Type="http://schemas.openxmlformats.org/officeDocument/2006/relationships/image" Target="/ppt/media/image4.png" Id="R1e5d070d10674745" /><Relationship Type="http://schemas.openxmlformats.org/officeDocument/2006/relationships/notesSlide" Target="/ppt/notesSlides/notesSlide6.xml" Id="R9b514447d3b14a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399cddcc2b444e" /><Relationship Type="http://schemas.openxmlformats.org/officeDocument/2006/relationships/image" Target="/ppt/media/image5.png" Id="R46ca825996e14983" /><Relationship Type="http://schemas.openxmlformats.org/officeDocument/2006/relationships/notesSlide" Target="/ppt/notesSlides/notesSlide7.xml" Id="Ra786351de39a46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52990394c14525" /><Relationship Type="http://schemas.openxmlformats.org/officeDocument/2006/relationships/notesSlide" Target="/ppt/notesSlides/notesSlide8.xml" Id="R236fb62f53d44c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82f168f42ea4c48" /><Relationship Type="http://schemas.openxmlformats.org/officeDocument/2006/relationships/notesSlide" Target="/ppt/notesSlides/notesSlide9.xml" Id="R8f626184c14442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87202fe1f624242" /><Relationship Type="http://schemas.openxmlformats.org/officeDocument/2006/relationships/notesSlide" Target="/ppt/notesSlides/notesSlide10.xml" Id="Ra3326f310d9449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32e35d132284099" /><Relationship Type="http://schemas.openxmlformats.org/officeDocument/2006/relationships/notesSlide" Target="/ppt/notesSlides/notesSlide11.xml" Id="R68d5ec84b70e4a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6c00a0690444624" /><Relationship Type="http://schemas.openxmlformats.org/officeDocument/2006/relationships/notesSlide" Target="/ppt/notesSlides/notesSlide12.xml" Id="R8723d492fa4d4fcf" /></Relationships>
</file>

<file path=ppt/slides/slide1.xml><?xml version="1.0" encoding="utf-8"?>
<p:sld xmlns:p="http://schemas.openxmlformats.org/presentationml/2006/main">
  <p:cSld>
    <p:bg>
      <p:bgPr>
        <a:solidFill xmlns:a="http://schemas.openxmlformats.org/drawingml/2006/main">
          <a:srgbClr val="17203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72479A-3B8B-4CFE-9870-38067E344929}"/>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2" name="">
            <a:extLst xmlns:a="http://schemas.openxmlformats.org/drawingml/2006/main">
              <a:ext uri="{FF2B5EF4-FFF2-40B4-BE49-F238E27FC236}">
                <a16:creationId xmlns:a16="http://schemas.microsoft.com/office/drawing/2014/main" id="{18678ADA-FD0A-4121-8BC4-35B43C6116F6}"/>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77E6B923-92A1-4528-90CF-201C46E2229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F29DC7-EC73-456F-ADD2-9CBD9BC041C5}"/>
              </a:ext>
            </a:extLst>
          </p:cNvPr>
          <p:cNvSpPr>
            <a:spLocks xmlns:a="http://schemas.openxmlformats.org/drawingml/2006/main" noGrp="1"/>
          </p:cNvSpPr>
          <p:nvPr/>
        </p:nvSpPr>
        <p:spPr>
          <a:xfrm xmlns:a="http://schemas.openxmlformats.org/drawingml/2006/main">
            <a:off x="609600" y="666750"/>
            <a:ext cx="704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FFFFFF"/>
                </a:solidFill>
                <a:latin typeface="Arial"/>
                <a:ea typeface="Arial"/>
                <a:cs typeface="Arial"/>
              </a:defRPr>
            </a:defPPr>
          </a:lstStyle>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Согласовано</a:t>
            </a:r>
          </a:p>
        </p:txBody>
      </p:sp>
      <p:sp>
        <p:nvSpPr>
          <p:cNvPr id="5" name="">
            <a:extLst xmlns:a="http://schemas.openxmlformats.org/drawingml/2006/main">
              <a:ext uri="{FF2B5EF4-FFF2-40B4-BE49-F238E27FC236}">
                <a16:creationId xmlns:a16="http://schemas.microsoft.com/office/drawing/2014/main" id="{2BC68576-83AA-48BF-8C9C-87418E2427A4}"/>
              </a:ext>
            </a:extLst>
          </p:cNvPr>
          <p:cNvSpPr>
            <a:spLocks xmlns:a="http://schemas.openxmlformats.org/drawingml/2006/main" noGrp="1"/>
          </p:cNvSpPr>
          <p:nvPr/>
        </p:nvSpPr>
        <p:spPr>
          <a:xfrm xmlns:a="http://schemas.openxmlformats.org/drawingml/2006/main">
            <a:off x="609600" y="1952625"/>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rial"/>
                <a:ea typeface="Arial"/>
                <a:cs typeface="Arial"/>
              </a:defRPr>
            </a:def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Понятная смета</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и решение клиента</a:t>
            </a:r>
          </a:p>
        </p:txBody>
      </p:sp>
      <p:sp>
        <p:nvSpPr>
          <p:cNvPr id="6" name="">
            <a:extLst xmlns:a="http://schemas.openxmlformats.org/drawingml/2006/main">
              <a:ext uri="{FF2B5EF4-FFF2-40B4-BE49-F238E27FC236}">
                <a16:creationId xmlns:a16="http://schemas.microsoft.com/office/drawing/2014/main" id="{66A16E6A-6695-417A-B47C-C9051F4FA330}"/>
              </a:ext>
            </a:extLst>
          </p:cNvPr>
          <p:cNvSpPr>
            <a:spLocks xmlns:a="http://schemas.openxmlformats.org/drawingml/2006/main" noGrp="1"/>
          </p:cNvSpPr>
          <p:nvPr/>
        </p:nvSpPr>
        <p:spPr>
          <a:xfrm xmlns:a="http://schemas.openxmlformats.org/drawingml/2006/main">
            <a:off x="609600" y="39433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CBD5E1"/>
                </a:solidFill>
                <a:latin typeface="Arial"/>
                <a:ea typeface="Arial"/>
                <a:cs typeface="Arial"/>
              </a:defRPr>
            </a:defPPr>
          </a:lstStyle>
          <a:p xmlns:a="http://schemas.openxmlformats.org/drawingml/2006/main">
            <a:pPr>
              <a:defRPr sz="2025" b="0">
                <a:solidFill>
                  <a:srgbClr val="CBD5E1"/>
                </a:solidFill>
                <a:latin typeface="Arial"/>
                <a:ea typeface="Arial"/>
                <a:cs typeface="Arial"/>
              </a:defRPr>
            </a:pPr>
            <a:r>
              <a:rPr sz="2025" b="0">
                <a:solidFill>
                  <a:srgbClr val="CBD5E1"/>
                </a:solidFill>
                <a:latin typeface="Arial"/>
                <a:ea typeface="Arial"/>
                <a:cs typeface="Arial"/>
              </a:rPr>
              <a:t>MVP для мастерских Ташкента</a:t>
            </a:r>
          </a:p>
          <a:p xmlns:a="http://schemas.openxmlformats.org/drawingml/2006/main">
            <a:pPr>
              <a:defRPr sz="2025" b="0">
                <a:solidFill>
                  <a:srgbClr val="CBD5E1"/>
                </a:solidFill>
                <a:latin typeface="Arial"/>
                <a:ea typeface="Arial"/>
                <a:cs typeface="Arial"/>
              </a:defRPr>
            </a:pPr>
            <a:r>
              <a:rPr sz="2025" b="0">
                <a:solidFill>
                  <a:srgbClr val="CBD5E1"/>
                </a:solidFill>
                <a:latin typeface="Arial"/>
                <a:ea typeface="Arial"/>
                <a:cs typeface="Arial"/>
              </a:rPr>
              <a:t>Ноутбуки и телефоны</a:t>
            </a:r>
          </a:p>
        </p:txBody>
      </p:sp>
      <p:sp>
        <p:nvSpPr>
          <p:cNvPr id="7" name="">
            <a:extLst xmlns:a="http://schemas.openxmlformats.org/drawingml/2006/main">
              <a:ext uri="{FF2B5EF4-FFF2-40B4-BE49-F238E27FC236}">
                <a16:creationId xmlns:a16="http://schemas.microsoft.com/office/drawing/2014/main" id="{078E9F43-9D8D-4499-8B13-F0BD405DE671}"/>
              </a:ext>
            </a:extLst>
          </p:cNvPr>
          <p:cNvSpPr>
            <a:spLocks xmlns:a="http://schemas.openxmlformats.org/drawingml/2006/main" noGrp="1"/>
          </p:cNvSpPr>
          <p:nvPr/>
        </p:nvSpPr>
        <p:spPr>
          <a:xfrm xmlns:a="http://schemas.openxmlformats.org/drawingml/2006/main">
            <a:off x="609600" y="56959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CBD5E1"/>
                </a:solidFill>
                <a:latin typeface="Arial"/>
                <a:ea typeface="Arial"/>
                <a:cs typeface="Arial"/>
              </a:defRPr>
            </a:defPPr>
          </a:lstStyle>
          <a:p xmlns:a="http://schemas.openxmlformats.org/drawingml/2006/main">
            <a:pPr>
              <a:defRPr sz="1350" b="0">
                <a:solidFill>
                  <a:srgbClr val="CBD5E1"/>
                </a:solidFill>
                <a:latin typeface="Arial"/>
                <a:ea typeface="Arial"/>
                <a:cs typeface="Arial"/>
              </a:defRPr>
            </a:pPr>
            <a:r>
              <a:rPr sz="1350" b="0">
                <a:solidFill>
                  <a:srgbClr val="CBD5E1"/>
                </a:solidFill>
                <a:latin typeface="Arial"/>
                <a:ea typeface="Arial"/>
                <a:cs typeface="Arial"/>
              </a:rPr>
              <a:t>Реальный интерфейс. Вымышленные демоданные.</a:t>
            </a:r>
          </a:p>
        </p:txBody>
      </p:sp>
      <p:pic>
        <p:nvPicPr>
          <p:cNvPr id="8" name="">
            <a:extLst xmlns:a="http://schemas.openxmlformats.org/drawingml/2006/main">
              <a:ext uri="{FF2B5EF4-FFF2-40B4-BE49-F238E27FC236}">
                <a16:creationId xmlns:a16="http://schemas.microsoft.com/office/drawing/2014/main" id="{D5018EB3-4DC6-45B0-88E4-E926D0DFEEEF}"/>
              </a:ext>
            </a:extLst>
          </p:cNvPr>
          <p:cNvPicPr>
            <a:picLocks xmlns:a="http://schemas.openxmlformats.org/drawingml/2006/main" noChangeAspect="1"/>
          </p:cNvPicPr>
          <p:nvPr/>
        </p:nvPicPr>
        <p:blipFill>
          <a:blip xmlns:r="http://schemas.openxmlformats.org/officeDocument/2006/relationships" xmlns:a="http://schemas.openxmlformats.org/drawingml/2006/main" r:embed="Rd2a822d15820422d"/>
          <a:stretch xmlns:a="http://schemas.openxmlformats.org/drawingml/2006/main"/>
        </p:blipFill>
        <p:spPr>
          <a:xfrm xmlns:a="http://schemas.openxmlformats.org/drawingml/2006/main">
            <a:off x="8048625" y="1326944"/>
            <a:ext cx="3238500" cy="4051713"/>
          </a:xfrm>
          <a:prstGeom xmlns:a="http://schemas.openxmlformats.org/drawingml/2006/main" prst="rect">
            <a:avLst/>
          </a:prstGeom>
        </p:spPr>
      </p:pic>
    </p:spTree>
    <p:extLst>
      <p:ext uri="{BB962C8B-B14F-4D97-AF65-F5344CB8AC3E}">
        <p14:creationId xmlns:p14="http://schemas.microsoft.com/office/powerpoint/2010/main" val="871575241"/>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84DDE3-C270-4032-966C-33DADA8018D5}"/>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Проблема и аудитория</a:t>
            </a:r>
          </a:p>
        </p:txBody>
      </p:sp>
      <p:sp>
        <p:nvSpPr>
          <p:cNvPr id="2" name="">
            <a:extLst xmlns:a="http://schemas.openxmlformats.org/drawingml/2006/main">
              <a:ext uri="{FF2B5EF4-FFF2-40B4-BE49-F238E27FC236}">
                <a16:creationId xmlns:a16="http://schemas.microsoft.com/office/drawing/2014/main" id="{D47B2AA9-2653-4562-B974-D9AF0003C75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EFFB9E-78FA-4BA7-8523-99E4E56D2E9F}"/>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E2EF384E-8902-4047-8B85-B65D10E3335C}"/>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13BE8BD-FB82-45B4-9142-59CFDA4E28C8}"/>
              </a:ext>
            </a:extLst>
          </p:cNvPr>
          <p:cNvSpPr>
            <a:spLocks xmlns:a="http://schemas.openxmlformats.org/drawingml/2006/main" noGrp="1"/>
          </p:cNvSpPr>
          <p:nvPr/>
        </p:nvSpPr>
        <p:spPr>
          <a:xfrm xmlns:a="http://schemas.openxmlformats.org/drawingml/2006/main">
            <a:off x="609600" y="1952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Условия ремонта</a:t>
            </a:r>
          </a:p>
        </p:txBody>
      </p:sp>
      <p:sp>
        <p:nvSpPr>
          <p:cNvPr id="6" name="">
            <a:extLst xmlns:a="http://schemas.openxmlformats.org/drawingml/2006/main">
              <a:ext uri="{FF2B5EF4-FFF2-40B4-BE49-F238E27FC236}">
                <a16:creationId xmlns:a16="http://schemas.microsoft.com/office/drawing/2014/main" id="{D3B21894-B678-4C79-A710-9AFB12C23380}"/>
              </a:ext>
            </a:extLst>
          </p:cNvPr>
          <p:cNvSpPr>
            <a:spLocks xmlns:a="http://schemas.openxmlformats.org/drawingml/2006/main" noGrp="1"/>
          </p:cNvSpPr>
          <p:nvPr/>
        </p:nvSpPr>
        <p:spPr>
          <a:xfrm xmlns:a="http://schemas.openxmlformats.org/drawingml/2006/main">
            <a:off x="609600" y="25431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Работы, цена, срок и гарантия должны быть понятны до начала ремонта.</a:t>
            </a:r>
          </a:p>
        </p:txBody>
      </p:sp>
      <p:sp>
        <p:nvSpPr>
          <p:cNvPr id="7" name="">
            <a:extLst xmlns:a="http://schemas.openxmlformats.org/drawingml/2006/main">
              <a:ext uri="{FF2B5EF4-FFF2-40B4-BE49-F238E27FC236}">
                <a16:creationId xmlns:a16="http://schemas.microsoft.com/office/drawing/2014/main" id="{52F176E2-85B1-4B3E-B555-21B6953682DC}"/>
              </a:ext>
            </a:extLst>
          </p:cNvPr>
          <p:cNvSpPr>
            <a:spLocks xmlns:a="http://schemas.openxmlformats.org/drawingml/2006/main" noGrp="1"/>
          </p:cNvSpPr>
          <p:nvPr/>
        </p:nvSpPr>
        <p:spPr>
          <a:xfrm xmlns:a="http://schemas.openxmlformats.org/drawingml/2006/main">
            <a:off x="4429125" y="1952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Небольшая мастерская</a:t>
            </a:r>
          </a:p>
        </p:txBody>
      </p:sp>
      <p:sp>
        <p:nvSpPr>
          <p:cNvPr id="8" name="">
            <a:extLst xmlns:a="http://schemas.openxmlformats.org/drawingml/2006/main">
              <a:ext uri="{FF2B5EF4-FFF2-40B4-BE49-F238E27FC236}">
                <a16:creationId xmlns:a16="http://schemas.microsoft.com/office/drawing/2014/main" id="{A1005A39-E3AF-49EB-8D02-CD952B7159C9}"/>
              </a:ext>
            </a:extLst>
          </p:cNvPr>
          <p:cNvSpPr>
            <a:spLocks xmlns:a="http://schemas.openxmlformats.org/drawingml/2006/main" noGrp="1"/>
          </p:cNvSpPr>
          <p:nvPr/>
        </p:nvSpPr>
        <p:spPr>
          <a:xfrm xmlns:a="http://schemas.openxmlformats.org/drawingml/2006/main">
            <a:off x="4429125" y="25431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Владелец сам общается с клиентами. Сложная CRM может быть избыточной.</a:t>
            </a:r>
          </a:p>
        </p:txBody>
      </p:sp>
      <p:sp>
        <p:nvSpPr>
          <p:cNvPr id="9" name="">
            <a:extLst xmlns:a="http://schemas.openxmlformats.org/drawingml/2006/main">
              <a:ext uri="{FF2B5EF4-FFF2-40B4-BE49-F238E27FC236}">
                <a16:creationId xmlns:a16="http://schemas.microsoft.com/office/drawing/2014/main" id="{C0A5563D-79F9-43B9-A4A9-D3E244D1544E}"/>
              </a:ext>
            </a:extLst>
          </p:cNvPr>
          <p:cNvSpPr>
            <a:spLocks xmlns:a="http://schemas.openxmlformats.org/drawingml/2006/main" noGrp="1"/>
          </p:cNvSpPr>
          <p:nvPr/>
        </p:nvSpPr>
        <p:spPr>
          <a:xfrm xmlns:a="http://schemas.openxmlformats.org/drawingml/2006/main">
            <a:off x="8248650" y="1952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Гипотеза пилота</a:t>
            </a:r>
          </a:p>
        </p:txBody>
      </p:sp>
      <p:sp>
        <p:nvSpPr>
          <p:cNvPr id="10" name="">
            <a:extLst xmlns:a="http://schemas.openxmlformats.org/drawingml/2006/main">
              <a:ext uri="{FF2B5EF4-FFF2-40B4-BE49-F238E27FC236}">
                <a16:creationId xmlns:a16="http://schemas.microsoft.com/office/drawing/2014/main" id="{8C18BBC7-5056-44DF-B21C-95276DFB82D5}"/>
              </a:ext>
            </a:extLst>
          </p:cNvPr>
          <p:cNvSpPr>
            <a:spLocks xmlns:a="http://schemas.openxmlformats.org/drawingml/2006/main" noGrp="1"/>
          </p:cNvSpPr>
          <p:nvPr/>
        </p:nvSpPr>
        <p:spPr>
          <a:xfrm xmlns:a="http://schemas.openxmlformats.org/drawingml/2006/main">
            <a:off x="8248650" y="25431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Меньше повторных объяснений. Быстрее подготовка сметы и ответ клиента.</a:t>
            </a:r>
          </a:p>
        </p:txBody>
      </p:sp>
      <p:sp>
        <p:nvSpPr>
          <p:cNvPr id="11" name="">
            <a:extLst xmlns:a="http://schemas.openxmlformats.org/drawingml/2006/main">
              <a:ext uri="{FF2B5EF4-FFF2-40B4-BE49-F238E27FC236}">
                <a16:creationId xmlns:a16="http://schemas.microsoft.com/office/drawing/2014/main" id="{A1AF0898-50D9-452C-AA9B-9CEE4B75FA3F}"/>
              </a:ext>
            </a:extLst>
          </p:cNvPr>
          <p:cNvSpPr>
            <a:spLocks xmlns:a="http://schemas.openxmlformats.org/drawingml/2006/main" noGrp="1"/>
          </p:cNvSpPr>
          <p:nvPr/>
        </p:nvSpPr>
        <p:spPr>
          <a:xfrm xmlns:a="http://schemas.openxmlformats.org/drawingml/2006/main">
            <a:off x="609600" y="4953000"/>
            <a:ext cx="10972800" cy="904875"/>
          </a:xfrm>
          <a:prstGeom xmlns:a="http://schemas.openxmlformats.org/drawingml/2006/main" prst="rect">
            <a:avLst/>
          </a:prstGeom>
          <a:solidFill xmlns:a="http://schemas.openxmlformats.org/drawingml/2006/main">
            <a:srgbClr val="EFF6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1043E7B-D2DD-48E5-A597-D1C2D3BAACD8}"/>
              </a:ext>
            </a:extLst>
          </p:cNvPr>
          <p:cNvSpPr>
            <a:spLocks xmlns:a="http://schemas.openxmlformats.org/drawingml/2006/main" noGrp="1"/>
          </p:cNvSpPr>
          <p:nvPr/>
        </p:nvSpPr>
        <p:spPr>
          <a:xfrm xmlns:a="http://schemas.openxmlformats.org/drawingml/2006/main">
            <a:off x="838200" y="52006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63EB"/>
                </a:solidFill>
                <a:latin typeface="Arial"/>
                <a:ea typeface="Arial"/>
                <a:cs typeface="Arial"/>
              </a:defRPr>
            </a:defPPr>
          </a:lstStyle>
          <a:p xmlns:a="http://schemas.openxmlformats.org/drawingml/2006/main">
            <a:pPr>
              <a:defRPr sz="2025" b="1">
                <a:solidFill>
                  <a:srgbClr val="2563EB"/>
                </a:solidFill>
                <a:latin typeface="Arial"/>
                <a:ea typeface="Arial"/>
                <a:cs typeface="Arial"/>
              </a:defRPr>
            </a:pPr>
            <a:r>
              <a:rPr sz="2025" b="1">
                <a:solidFill>
                  <a:srgbClr val="2563EB"/>
                </a:solidFill>
                <a:latin typeface="Arial"/>
                <a:ea typeface="Arial"/>
                <a:cs typeface="Arial"/>
              </a:rPr>
              <a:t>Ташкент · русский интерфейс · суммы в сумах · время UTC+5</a:t>
            </a:r>
          </a:p>
        </p:txBody>
      </p:sp>
    </p:spTree>
    <p:extLst>
      <p:ext uri="{BB962C8B-B14F-4D97-AF65-F5344CB8AC3E}">
        <p14:creationId xmlns:p14="http://schemas.microsoft.com/office/powerpoint/2010/main" val="2016730439"/>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19334CA-61F6-4D7F-B2EE-63A8A747BA8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Три сценария MVP</a:t>
            </a:r>
          </a:p>
        </p:txBody>
      </p:sp>
      <p:sp>
        <p:nvSpPr>
          <p:cNvPr id="2" name="">
            <a:extLst xmlns:a="http://schemas.openxmlformats.org/drawingml/2006/main">
              <a:ext uri="{FF2B5EF4-FFF2-40B4-BE49-F238E27FC236}">
                <a16:creationId xmlns:a16="http://schemas.microsoft.com/office/drawing/2014/main" id="{DD7D8108-9FF6-4FBC-B28D-CC6427C32ED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953F4E-7300-4BBE-AF12-4EC35B4857E8}"/>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33CBBC26-5E83-4835-9B5B-E98ED9DA6B74}"/>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D4FD7EA-BD12-480C-877E-D04A538419C2}"/>
              </a:ext>
            </a:extLst>
          </p:cNvPr>
          <p:cNvSpPr>
            <a:spLocks xmlns:a="http://schemas.openxmlformats.org/drawingml/2006/main" noGrp="1"/>
          </p:cNvSpPr>
          <p:nvPr/>
        </p:nvSpPr>
        <p:spPr>
          <a:xfrm xmlns:a="http://schemas.openxmlformats.org/drawingml/2006/main">
            <a:off x="609600" y="185737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2563EB"/>
                </a:solidFill>
                <a:latin typeface="Arial"/>
                <a:ea typeface="Arial"/>
                <a:cs typeface="Arial"/>
              </a:defRPr>
            </a:defPPr>
          </a:lstStyle>
          <a:p xmlns:a="http://schemas.openxmlformats.org/drawingml/2006/main">
            <a:pPr>
              <a:defRPr sz="5700" b="1">
                <a:solidFill>
                  <a:srgbClr val="2563EB"/>
                </a:solidFill>
                <a:latin typeface="Arial"/>
                <a:ea typeface="Arial"/>
                <a:cs typeface="Arial"/>
              </a:defRPr>
            </a:pPr>
            <a:r>
              <a:rPr sz="5700" b="1">
                <a:solidFill>
                  <a:srgbClr val="2563EB"/>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69233C9-7ECE-4A62-A5EA-EB1E9B76D09C}"/>
              </a:ext>
            </a:extLst>
          </p:cNvPr>
          <p:cNvSpPr>
            <a:spLocks xmlns:a="http://schemas.openxmlformats.org/drawingml/2006/main" noGrp="1"/>
          </p:cNvSpPr>
          <p:nvPr/>
        </p:nvSpPr>
        <p:spPr>
          <a:xfrm xmlns:a="http://schemas.openxmlformats.org/drawingml/2006/main">
            <a:off x="609600" y="30194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Мастер</a:t>
            </a:r>
          </a:p>
        </p:txBody>
      </p:sp>
      <p:sp>
        <p:nvSpPr>
          <p:cNvPr id="7" name="">
            <a:extLst xmlns:a="http://schemas.openxmlformats.org/drawingml/2006/main">
              <a:ext uri="{FF2B5EF4-FFF2-40B4-BE49-F238E27FC236}">
                <a16:creationId xmlns:a16="http://schemas.microsoft.com/office/drawing/2014/main" id="{182C6435-0CD2-43D2-934A-A2888B9FC16A}"/>
              </a:ext>
            </a:extLst>
          </p:cNvPr>
          <p:cNvSpPr>
            <a:spLocks xmlns:a="http://schemas.openxmlformats.org/drawingml/2006/main" noGrp="1"/>
          </p:cNvSpPr>
          <p:nvPr/>
        </p:nvSpPr>
        <p:spPr>
          <a:xfrm xmlns:a="http://schemas.openxmlformats.org/drawingml/2006/main">
            <a:off x="609600" y="36099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Вводит работы и условия.</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Проверяет текст.</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Публикует смету.</a:t>
            </a:r>
          </a:p>
        </p:txBody>
      </p:sp>
      <p:sp>
        <p:nvSpPr>
          <p:cNvPr id="8" name="">
            <a:extLst xmlns:a="http://schemas.openxmlformats.org/drawingml/2006/main">
              <a:ext uri="{FF2B5EF4-FFF2-40B4-BE49-F238E27FC236}">
                <a16:creationId xmlns:a16="http://schemas.microsoft.com/office/drawing/2014/main" id="{89CEE41E-84C5-4090-854D-026B8271DDFB}"/>
              </a:ext>
            </a:extLst>
          </p:cNvPr>
          <p:cNvSpPr>
            <a:spLocks xmlns:a="http://schemas.openxmlformats.org/drawingml/2006/main" noGrp="1"/>
          </p:cNvSpPr>
          <p:nvPr/>
        </p:nvSpPr>
        <p:spPr>
          <a:xfrm xmlns:a="http://schemas.openxmlformats.org/drawingml/2006/main">
            <a:off x="4419600" y="185737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2563EB"/>
                </a:solidFill>
                <a:latin typeface="Arial"/>
                <a:ea typeface="Arial"/>
                <a:cs typeface="Arial"/>
              </a:defRPr>
            </a:defPPr>
          </a:lstStyle>
          <a:p xmlns:a="http://schemas.openxmlformats.org/drawingml/2006/main">
            <a:pPr>
              <a:defRPr sz="5700" b="1">
                <a:solidFill>
                  <a:srgbClr val="2563EB"/>
                </a:solidFill>
                <a:latin typeface="Arial"/>
                <a:ea typeface="Arial"/>
                <a:cs typeface="Arial"/>
              </a:defRPr>
            </a:pPr>
            <a:r>
              <a:rPr sz="5700" b="1">
                <a:solidFill>
                  <a:srgbClr val="2563EB"/>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B1250581-CDDC-41DE-98BC-83BD820AD587}"/>
              </a:ext>
            </a:extLst>
          </p:cNvPr>
          <p:cNvSpPr>
            <a:spLocks xmlns:a="http://schemas.openxmlformats.org/drawingml/2006/main" noGrp="1"/>
          </p:cNvSpPr>
          <p:nvPr/>
        </p:nvSpPr>
        <p:spPr>
          <a:xfrm xmlns:a="http://schemas.openxmlformats.org/drawingml/2006/main">
            <a:off x="4419600" y="30194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Клиент</a:t>
            </a:r>
          </a:p>
        </p:txBody>
      </p:sp>
      <p:sp>
        <p:nvSpPr>
          <p:cNvPr id="10" name="">
            <a:extLst xmlns:a="http://schemas.openxmlformats.org/drawingml/2006/main">
              <a:ext uri="{FF2B5EF4-FFF2-40B4-BE49-F238E27FC236}">
                <a16:creationId xmlns:a16="http://schemas.microsoft.com/office/drawing/2014/main" id="{921FE2CC-7B15-4736-8119-6B3DE46ABA22}"/>
              </a:ext>
            </a:extLst>
          </p:cNvPr>
          <p:cNvSpPr>
            <a:spLocks xmlns:a="http://schemas.openxmlformats.org/drawingml/2006/main" noGrp="1"/>
          </p:cNvSpPr>
          <p:nvPr/>
        </p:nvSpPr>
        <p:spPr>
          <a:xfrm xmlns:a="http://schemas.openxmlformats.org/drawingml/2006/main">
            <a:off x="4419600" y="36099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Открывает ссылку.</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Задаёт вопрос или</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принимает решение.</a:t>
            </a:r>
          </a:p>
        </p:txBody>
      </p:sp>
      <p:sp>
        <p:nvSpPr>
          <p:cNvPr id="11" name="">
            <a:extLst xmlns:a="http://schemas.openxmlformats.org/drawingml/2006/main">
              <a:ext uri="{FF2B5EF4-FFF2-40B4-BE49-F238E27FC236}">
                <a16:creationId xmlns:a16="http://schemas.microsoft.com/office/drawing/2014/main" id="{D6CC9EF6-2F99-45DA-A088-645A9E6C1588}"/>
              </a:ext>
            </a:extLst>
          </p:cNvPr>
          <p:cNvSpPr>
            <a:spLocks xmlns:a="http://schemas.openxmlformats.org/drawingml/2006/main" noGrp="1"/>
          </p:cNvSpPr>
          <p:nvPr/>
        </p:nvSpPr>
        <p:spPr>
          <a:xfrm xmlns:a="http://schemas.openxmlformats.org/drawingml/2006/main">
            <a:off x="8229600" y="185737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2563EB"/>
                </a:solidFill>
                <a:latin typeface="Arial"/>
                <a:ea typeface="Arial"/>
                <a:cs typeface="Arial"/>
              </a:defRPr>
            </a:defPPr>
          </a:lstStyle>
          <a:p xmlns:a="http://schemas.openxmlformats.org/drawingml/2006/main">
            <a:pPr>
              <a:defRPr sz="5700" b="1">
                <a:solidFill>
                  <a:srgbClr val="2563EB"/>
                </a:solidFill>
                <a:latin typeface="Arial"/>
                <a:ea typeface="Arial"/>
                <a:cs typeface="Arial"/>
              </a:defRPr>
            </a:pPr>
            <a:r>
              <a:rPr sz="5700" b="1">
                <a:solidFill>
                  <a:srgbClr val="2563EB"/>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D53BB6BD-A63D-425E-BD31-D32A553E0D11}"/>
              </a:ext>
            </a:extLst>
          </p:cNvPr>
          <p:cNvSpPr>
            <a:spLocks xmlns:a="http://schemas.openxmlformats.org/drawingml/2006/main" noGrp="1"/>
          </p:cNvSpPr>
          <p:nvPr/>
        </p:nvSpPr>
        <p:spPr>
          <a:xfrm xmlns:a="http://schemas.openxmlformats.org/drawingml/2006/main">
            <a:off x="8229600" y="30194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Владелец</a:t>
            </a:r>
          </a:p>
        </p:txBody>
      </p:sp>
      <p:sp>
        <p:nvSpPr>
          <p:cNvPr id="13" name="">
            <a:extLst xmlns:a="http://schemas.openxmlformats.org/drawingml/2006/main">
              <a:ext uri="{FF2B5EF4-FFF2-40B4-BE49-F238E27FC236}">
                <a16:creationId xmlns:a16="http://schemas.microsoft.com/office/drawing/2014/main" id="{9F2F2D67-7303-4694-94E3-7F5897448A12}"/>
              </a:ext>
            </a:extLst>
          </p:cNvPr>
          <p:cNvSpPr>
            <a:spLocks xmlns:a="http://schemas.openxmlformats.org/drawingml/2006/main" noGrp="1"/>
          </p:cNvSpPr>
          <p:nvPr/>
        </p:nvSpPr>
        <p:spPr>
          <a:xfrm xmlns:a="http://schemas.openxmlformats.org/drawingml/2006/main">
            <a:off x="8229600" y="36099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Видит результат.</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Отвечает на вопросы.</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Отслеживает версии.</a:t>
            </a:r>
          </a:p>
        </p:txBody>
      </p:sp>
    </p:spTree>
    <p:extLst>
      <p:ext uri="{BB962C8B-B14F-4D97-AF65-F5344CB8AC3E}">
        <p14:creationId xmlns:p14="http://schemas.microsoft.com/office/powerpoint/2010/main" val="2063052129"/>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E41D34-55F6-4BC7-920E-F382A713035D}"/>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Кабинет владельца</a:t>
            </a:r>
          </a:p>
        </p:txBody>
      </p:sp>
      <p:sp>
        <p:nvSpPr>
          <p:cNvPr id="2" name="">
            <a:extLst xmlns:a="http://schemas.openxmlformats.org/drawingml/2006/main">
              <a:ext uri="{FF2B5EF4-FFF2-40B4-BE49-F238E27FC236}">
                <a16:creationId xmlns:a16="http://schemas.microsoft.com/office/drawing/2014/main" id="{AADAEA55-D234-42EC-8452-75616EC9EB0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194B33-E2E4-4BB9-81C3-BAAABF764E09}"/>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81C0B5FF-2319-4321-91C9-909776B6635A}"/>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53CF9668-F388-4A56-ACBE-2C43DBAD3EC5}"/>
              </a:ext>
            </a:extLst>
          </p:cNvPr>
          <p:cNvPicPr>
            <a:picLocks xmlns:a="http://schemas.openxmlformats.org/drawingml/2006/main" noChangeAspect="1"/>
          </p:cNvPicPr>
          <p:nvPr/>
        </p:nvPicPr>
        <p:blipFill>
          <a:blip xmlns:r="http://schemas.openxmlformats.org/officeDocument/2006/relationships" xmlns:a="http://schemas.openxmlformats.org/drawingml/2006/main" r:embed="R3ad38d74cf004f18"/>
          <a:stretch xmlns:a="http://schemas.openxmlformats.org/drawingml/2006/main"/>
        </p:blipFill>
        <p:spPr>
          <a:xfrm xmlns:a="http://schemas.openxmlformats.org/drawingml/2006/main">
            <a:off x="1608732" y="1714500"/>
            <a:ext cx="6478986" cy="43148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C228D0-2006-4F9D-8B4C-DE75102C8BE0}"/>
              </a:ext>
            </a:extLst>
          </p:cNvPr>
          <p:cNvSpPr>
            <a:spLocks xmlns:a="http://schemas.openxmlformats.org/drawingml/2006/main" noGrp="1"/>
          </p:cNvSpPr>
          <p:nvPr/>
        </p:nvSpPr>
        <p:spPr>
          <a:xfrm xmlns:a="http://schemas.openxmlformats.org/drawingml/2006/main">
            <a:off x="9429750" y="2047875"/>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63EB"/>
                </a:solidFill>
                <a:latin typeface="Arial"/>
                <a:ea typeface="Arial"/>
                <a:cs typeface="Arial"/>
              </a:defRPr>
            </a:defPPr>
          </a:lstStyle>
          <a:p xmlns:a="http://schemas.openxmlformats.org/drawingml/2006/main">
            <a:pPr>
              <a:defRPr sz="2025" b="1">
                <a:solidFill>
                  <a:srgbClr val="2563EB"/>
                </a:solidFill>
                <a:latin typeface="Arial"/>
                <a:ea typeface="Arial"/>
                <a:cs typeface="Arial"/>
              </a:defRPr>
            </a:pPr>
            <a:r>
              <a:rPr sz="2025" b="1">
                <a:solidFill>
                  <a:srgbClr val="2563EB"/>
                </a:solidFill>
                <a:latin typeface="Arial"/>
                <a:ea typeface="Arial"/>
                <a:cs typeface="Arial"/>
              </a:rPr>
              <a:t>Поиск и фильтр</a:t>
            </a:r>
          </a:p>
        </p:txBody>
      </p:sp>
      <p:sp>
        <p:nvSpPr>
          <p:cNvPr id="7" name="">
            <a:extLst xmlns:a="http://schemas.openxmlformats.org/drawingml/2006/main">
              <a:ext uri="{FF2B5EF4-FFF2-40B4-BE49-F238E27FC236}">
                <a16:creationId xmlns:a16="http://schemas.microsoft.com/office/drawing/2014/main" id="{73D42135-2BE9-4ED4-BB7F-5F2422F0239B}"/>
              </a:ext>
            </a:extLst>
          </p:cNvPr>
          <p:cNvSpPr>
            <a:spLocks xmlns:a="http://schemas.openxmlformats.org/drawingml/2006/main" noGrp="1"/>
          </p:cNvSpPr>
          <p:nvPr/>
        </p:nvSpPr>
        <p:spPr>
          <a:xfrm xmlns:a="http://schemas.openxmlformats.org/drawingml/2006/main">
            <a:off x="9429750" y="2790825"/>
            <a:ext cx="2143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2033"/>
                </a:solidFill>
                <a:latin typeface="Arial"/>
                <a:ea typeface="Arial"/>
                <a:cs typeface="Arial"/>
              </a:defRPr>
            </a:defPPr>
          </a:lstStyle>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Статус каждой сметы</a:t>
            </a:r>
          </a:p>
          <a:p xmlns:a="http://schemas.openxmlformats.org/drawingml/2006/main">
            <a:r>
              <a:t/>
            </a:r>
          </a:p>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Вопросы клиента</a:t>
            </a:r>
          </a:p>
          <a:p xmlns:a="http://schemas.openxmlformats.org/drawingml/2006/main">
            <a:r>
              <a:t/>
            </a:r>
          </a:p>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Точная сумма</a:t>
            </a:r>
          </a:p>
        </p:txBody>
      </p:sp>
    </p:spTree>
    <p:extLst>
      <p:ext uri="{BB962C8B-B14F-4D97-AF65-F5344CB8AC3E}">
        <p14:creationId xmlns:p14="http://schemas.microsoft.com/office/powerpoint/2010/main" val="1592154039"/>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40D755-9E3A-40BF-99B6-C15854F26F9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Смета: факты и объяснение</a:t>
            </a:r>
          </a:p>
        </p:txBody>
      </p:sp>
      <p:sp>
        <p:nvSpPr>
          <p:cNvPr id="2" name="">
            <a:extLst xmlns:a="http://schemas.openxmlformats.org/drawingml/2006/main">
              <a:ext uri="{FF2B5EF4-FFF2-40B4-BE49-F238E27FC236}">
                <a16:creationId xmlns:a16="http://schemas.microsoft.com/office/drawing/2014/main" id="{9FFAD3A1-2BF0-4E6A-90F1-42B989AB90E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243879-D28D-428B-B48F-14DBE1BCEE39}"/>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C913E42B-D4DB-44B2-ABE6-DB6CC6DB9179}"/>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F4FEA03-2EBD-4E86-85E2-346F639B81C1}"/>
              </a:ext>
            </a:extLst>
          </p:cNvPr>
          <p:cNvSpPr>
            <a:spLocks xmlns:a="http://schemas.openxmlformats.org/drawingml/2006/main" noGrp="1"/>
          </p:cNvSpPr>
          <p:nvPr/>
        </p:nvSpPr>
        <p:spPr>
          <a:xfrm xmlns:a="http://schemas.openxmlformats.org/drawingml/2006/main">
            <a:off x="609600" y="19621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Раздельные поля</a:t>
            </a:r>
          </a:p>
        </p:txBody>
      </p:sp>
      <p:sp>
        <p:nvSpPr>
          <p:cNvPr id="6" name="">
            <a:extLst xmlns:a="http://schemas.openxmlformats.org/drawingml/2006/main">
              <a:ext uri="{FF2B5EF4-FFF2-40B4-BE49-F238E27FC236}">
                <a16:creationId xmlns:a16="http://schemas.microsoft.com/office/drawing/2014/main" id="{40996032-D9B8-47FB-A979-8894472DD5EA}"/>
              </a:ext>
            </a:extLst>
          </p:cNvPr>
          <p:cNvSpPr>
            <a:spLocks xmlns:a="http://schemas.openxmlformats.org/drawingml/2006/main" noGrp="1"/>
          </p:cNvSpPr>
          <p:nvPr/>
        </p:nvSpPr>
        <p:spPr>
          <a:xfrm xmlns:a="http://schemas.openxmlformats.org/drawingml/2006/main">
            <a:off x="609600" y="2552700"/>
            <a:ext cx="3714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Техническая заметка остаётся внутри мастерской. Клиент читает проверенное объяснение.</a:t>
            </a:r>
          </a:p>
        </p:txBody>
      </p:sp>
      <p:sp>
        <p:nvSpPr>
          <p:cNvPr id="7" name="">
            <a:extLst xmlns:a="http://schemas.openxmlformats.org/drawingml/2006/main">
              <a:ext uri="{FF2B5EF4-FFF2-40B4-BE49-F238E27FC236}">
                <a16:creationId xmlns:a16="http://schemas.microsoft.com/office/drawing/2014/main" id="{1250FA44-ECDF-4E65-B15D-3907AB55D452}"/>
              </a:ext>
            </a:extLst>
          </p:cNvPr>
          <p:cNvSpPr>
            <a:spLocks xmlns:a="http://schemas.openxmlformats.org/drawingml/2006/main" noGrp="1"/>
          </p:cNvSpPr>
          <p:nvPr/>
        </p:nvSpPr>
        <p:spPr>
          <a:xfrm xmlns:a="http://schemas.openxmlformats.org/drawingml/2006/main">
            <a:off x="609600" y="4238625"/>
            <a:ext cx="3714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563EB"/>
                </a:solidFill>
                <a:latin typeface="Arial"/>
                <a:ea typeface="Arial"/>
                <a:cs typeface="Arial"/>
              </a:defRPr>
            </a:def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Предпросмотр без публикации</a:t>
            </a:r>
          </a:p>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Ручное редактирование</a:t>
            </a:r>
          </a:p>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Защита от потери изменений</a:t>
            </a:r>
          </a:p>
        </p:txBody>
      </p:sp>
      <p:pic>
        <p:nvPicPr>
          <p:cNvPr id="8" name="">
            <a:extLst xmlns:a="http://schemas.openxmlformats.org/drawingml/2006/main">
              <a:ext uri="{FF2B5EF4-FFF2-40B4-BE49-F238E27FC236}">
                <a16:creationId xmlns:a16="http://schemas.microsoft.com/office/drawing/2014/main" id="{AD0EBB64-14EC-4A7D-B0FD-B7BD61E9A04E}"/>
              </a:ext>
            </a:extLst>
          </p:cNvPr>
          <p:cNvPicPr>
            <a:picLocks xmlns:a="http://schemas.openxmlformats.org/drawingml/2006/main" noChangeAspect="1"/>
          </p:cNvPicPr>
          <p:nvPr/>
        </p:nvPicPr>
        <p:blipFill>
          <a:blip xmlns:r="http://schemas.openxmlformats.org/officeDocument/2006/relationships" xmlns:a="http://schemas.openxmlformats.org/drawingml/2006/main" r:embed="R35d4b4daf71744ae"/>
          <a:stretch xmlns:a="http://schemas.openxmlformats.org/drawingml/2006/main"/>
        </p:blipFill>
        <p:spPr>
          <a:xfrm xmlns:a="http://schemas.openxmlformats.org/drawingml/2006/main">
            <a:off x="5797470" y="1714500"/>
            <a:ext cx="4845210" cy="4333875"/>
          </a:xfrm>
          <a:prstGeom xmlns:a="http://schemas.openxmlformats.org/drawingml/2006/main" prst="rect">
            <a:avLst/>
          </a:prstGeom>
        </p:spPr>
      </p:pic>
    </p:spTree>
    <p:extLst>
      <p:ext uri="{BB962C8B-B14F-4D97-AF65-F5344CB8AC3E}">
        <p14:creationId xmlns:p14="http://schemas.microsoft.com/office/powerpoint/2010/main" val="1773833882"/>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7F5BC7-8CEE-45D3-A26A-AB8BCA01BE4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Цены и условия контролирует мастер</a:t>
            </a:r>
          </a:p>
        </p:txBody>
      </p:sp>
      <p:sp>
        <p:nvSpPr>
          <p:cNvPr id="2" name="">
            <a:extLst xmlns:a="http://schemas.openxmlformats.org/drawingml/2006/main">
              <a:ext uri="{FF2B5EF4-FFF2-40B4-BE49-F238E27FC236}">
                <a16:creationId xmlns:a16="http://schemas.microsoft.com/office/drawing/2014/main" id="{0DD912D3-0520-40EE-ABAE-EC736A7EE99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6A5C9D-A313-420E-A568-277E9785D9BF}"/>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72800A89-A3A5-4CB6-836B-23945128296A}"/>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4524157-6ECE-4A5D-84E1-D9926D7F9710}"/>
              </a:ext>
            </a:extLst>
          </p:cNvPr>
          <p:cNvSpPr>
            <a:spLocks xmlns:a="http://schemas.openxmlformats.org/drawingml/2006/main" noGrp="1"/>
          </p:cNvSpPr>
          <p:nvPr/>
        </p:nvSpPr>
        <p:spPr>
          <a:xfrm xmlns:a="http://schemas.openxmlformats.org/drawingml/2006/main">
            <a:off x="609600" y="1962150"/>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2563EB"/>
                </a:solidFill>
                <a:latin typeface="Arial"/>
                <a:ea typeface="Arial"/>
                <a:cs typeface="Arial"/>
              </a:defRPr>
            </a:defPPr>
          </a:lstStyle>
          <a:p xmlns:a="http://schemas.openxmlformats.org/drawingml/2006/main">
            <a:pPr>
              <a:defRPr sz="5400" b="1">
                <a:solidFill>
                  <a:srgbClr val="2563EB"/>
                </a:solidFill>
                <a:latin typeface="Arial"/>
                <a:ea typeface="Arial"/>
                <a:cs typeface="Arial"/>
              </a:defRPr>
            </a:pPr>
            <a:r>
              <a:rPr sz="5400" b="1">
                <a:solidFill>
                  <a:srgbClr val="2563EB"/>
                </a:solidFill>
                <a:latin typeface="Arial"/>
                <a:ea typeface="Arial"/>
                <a:cs typeface="Arial"/>
              </a:rPr>
              <a:t>400 000 сум</a:t>
            </a:r>
          </a:p>
        </p:txBody>
      </p:sp>
      <p:sp>
        <p:nvSpPr>
          <p:cNvPr id="6" name="">
            <a:extLst xmlns:a="http://schemas.openxmlformats.org/drawingml/2006/main">
              <a:ext uri="{FF2B5EF4-FFF2-40B4-BE49-F238E27FC236}">
                <a16:creationId xmlns:a16="http://schemas.microsoft.com/office/drawing/2014/main" id="{ABFEB2F8-93D5-42AD-B276-18ED843529C5}"/>
              </a:ext>
            </a:extLst>
          </p:cNvPr>
          <p:cNvSpPr>
            <a:spLocks xmlns:a="http://schemas.openxmlformats.org/drawingml/2006/main" noGrp="1"/>
          </p:cNvSpPr>
          <p:nvPr/>
        </p:nvSpPr>
        <p:spPr>
          <a:xfrm xmlns:a="http://schemas.openxmlformats.org/drawingml/2006/main">
            <a:off x="609600" y="320992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033"/>
                </a:solidFill>
                <a:latin typeface="Arial"/>
                <a:ea typeface="Arial"/>
                <a:cs typeface="Arial"/>
              </a:defRPr>
            </a:defPPr>
          </a:lstStyle>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180 000 сум — чистка</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220 000 сум — замена кулера</a:t>
            </a:r>
          </a:p>
        </p:txBody>
      </p:sp>
      <p:sp>
        <p:nvSpPr>
          <p:cNvPr id="7" name="">
            <a:extLst xmlns:a="http://schemas.openxmlformats.org/drawingml/2006/main">
              <a:ext uri="{FF2B5EF4-FFF2-40B4-BE49-F238E27FC236}">
                <a16:creationId xmlns:a16="http://schemas.microsoft.com/office/drawing/2014/main" id="{85196A87-E37B-4115-8920-CC7995101E3E}"/>
              </a:ext>
            </a:extLst>
          </p:cNvPr>
          <p:cNvSpPr>
            <a:spLocks xmlns:a="http://schemas.openxmlformats.org/drawingml/2006/main" noGrp="1"/>
          </p:cNvSpPr>
          <p:nvPr/>
        </p:nvSpPr>
        <p:spPr>
          <a:xfrm xmlns:a="http://schemas.openxmlformats.org/drawingml/2006/main">
            <a:off x="609600" y="4648200"/>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67085"/>
                </a:solidFill>
                <a:latin typeface="Arial"/>
                <a:ea typeface="Arial"/>
                <a:cs typeface="Arial"/>
              </a:defRPr>
            </a:defPPr>
          </a:lstStyle>
          <a:p xmlns:a="http://schemas.openxmlformats.org/drawingml/2006/main">
            <a:pPr>
              <a:defRPr sz="1800" b="0">
                <a:solidFill>
                  <a:srgbClr val="667085"/>
                </a:solidFill>
                <a:latin typeface="Arial"/>
                <a:ea typeface="Arial"/>
                <a:cs typeface="Arial"/>
              </a:defRPr>
            </a:pPr>
            <a:r>
              <a:rPr sz="1800" b="0">
                <a:solidFill>
                  <a:srgbClr val="667085"/>
                </a:solidFill>
                <a:latin typeface="Arial"/>
                <a:ea typeface="Arial"/>
                <a:cs typeface="Arial"/>
              </a:rPr>
              <a:t>Сервер пересчитывает итог</a:t>
            </a:r>
          </a:p>
          <a:p xmlns:a="http://schemas.openxmlformats.org/drawingml/2006/main">
            <a:pPr>
              <a:defRPr sz="1800" b="0">
                <a:solidFill>
                  <a:srgbClr val="667085"/>
                </a:solidFill>
                <a:latin typeface="Arial"/>
                <a:ea typeface="Arial"/>
                <a:cs typeface="Arial"/>
              </a:defRPr>
            </a:pPr>
            <a:r>
              <a:rPr sz="1800" b="0">
                <a:solidFill>
                  <a:srgbClr val="667085"/>
                </a:solidFill>
                <a:latin typeface="Arial"/>
                <a:ea typeface="Arial"/>
                <a:cs typeface="Arial"/>
              </a:rPr>
              <a:t>Целые суммы в UZS</a:t>
            </a:r>
          </a:p>
          <a:p xmlns:a="http://schemas.openxmlformats.org/drawingml/2006/main">
            <a:pPr>
              <a:defRPr sz="1800" b="0">
                <a:solidFill>
                  <a:srgbClr val="667085"/>
                </a:solidFill>
                <a:latin typeface="Arial"/>
                <a:ea typeface="Arial"/>
                <a:cs typeface="Arial"/>
              </a:defRPr>
            </a:pPr>
            <a:r>
              <a:rPr sz="1800" b="0">
                <a:solidFill>
                  <a:srgbClr val="667085"/>
                </a:solidFill>
                <a:latin typeface="Arial"/>
                <a:ea typeface="Arial"/>
                <a:cs typeface="Arial"/>
              </a:rPr>
              <a:t>AI не меняет цены и условия</a:t>
            </a:r>
          </a:p>
        </p:txBody>
      </p:sp>
      <p:pic>
        <p:nvPicPr>
          <p:cNvPr id="8" name="">
            <a:extLst xmlns:a="http://schemas.openxmlformats.org/drawingml/2006/main">
              <a:ext uri="{FF2B5EF4-FFF2-40B4-BE49-F238E27FC236}">
                <a16:creationId xmlns:a16="http://schemas.microsoft.com/office/drawing/2014/main" id="{0AB76920-7837-427F-AA0A-88F99A90111B}"/>
              </a:ext>
            </a:extLst>
          </p:cNvPr>
          <p:cNvPicPr>
            <a:picLocks xmlns:a="http://schemas.openxmlformats.org/drawingml/2006/main" noChangeAspect="1"/>
          </p:cNvPicPr>
          <p:nvPr/>
        </p:nvPicPr>
        <p:blipFill>
          <a:blip xmlns:r="http://schemas.openxmlformats.org/officeDocument/2006/relationships" xmlns:a="http://schemas.openxmlformats.org/drawingml/2006/main" r:embed="R1e5d070d10674745"/>
          <a:stretch xmlns:a="http://schemas.openxmlformats.org/drawingml/2006/main"/>
        </p:blipFill>
        <p:spPr>
          <a:xfrm xmlns:a="http://schemas.openxmlformats.org/drawingml/2006/main">
            <a:off x="7488720" y="1685925"/>
            <a:ext cx="3081960" cy="4305300"/>
          </a:xfrm>
          <a:prstGeom xmlns:a="http://schemas.openxmlformats.org/drawingml/2006/main" prst="rect">
            <a:avLst/>
          </a:prstGeom>
        </p:spPr>
      </p:pic>
    </p:spTree>
    <p:extLst>
      <p:ext uri="{BB962C8B-B14F-4D97-AF65-F5344CB8AC3E}">
        <p14:creationId xmlns:p14="http://schemas.microsoft.com/office/powerpoint/2010/main" val="781268531"/>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24E9EA-6D91-4458-B000-A1188D8181B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Клиент отвечает без регистрации</a:t>
            </a:r>
          </a:p>
        </p:txBody>
      </p:sp>
      <p:sp>
        <p:nvSpPr>
          <p:cNvPr id="2" name="">
            <a:extLst xmlns:a="http://schemas.openxmlformats.org/drawingml/2006/main">
              <a:ext uri="{FF2B5EF4-FFF2-40B4-BE49-F238E27FC236}">
                <a16:creationId xmlns:a16="http://schemas.microsoft.com/office/drawing/2014/main" id="{3B1C6574-26D4-4E59-99F8-4E11849A081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12138E9-8A62-4836-9DD1-096101228638}"/>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C3CC540D-2248-4100-A19F-942C4E3A39E4}"/>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9C53DFBE-5F46-42F9-97AB-D1988982541D}"/>
              </a:ext>
            </a:extLst>
          </p:cNvPr>
          <p:cNvPicPr>
            <a:picLocks xmlns:a="http://schemas.openxmlformats.org/drawingml/2006/main" noChangeAspect="1"/>
          </p:cNvPicPr>
          <p:nvPr/>
        </p:nvPicPr>
        <p:blipFill>
          <a:blip xmlns:r="http://schemas.openxmlformats.org/officeDocument/2006/relationships" xmlns:a="http://schemas.openxmlformats.org/drawingml/2006/main" r:embed="R46ca825996e14983"/>
          <a:stretch xmlns:a="http://schemas.openxmlformats.org/drawingml/2006/main"/>
        </p:blipFill>
        <p:spPr>
          <a:xfrm xmlns:a="http://schemas.openxmlformats.org/drawingml/2006/main">
            <a:off x="8403080" y="1581150"/>
            <a:ext cx="2005714" cy="4572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88E358-DA4A-49EF-95E5-3AE496C05B2B}"/>
              </a:ext>
            </a:extLst>
          </p:cNvPr>
          <p:cNvSpPr>
            <a:spLocks xmlns:a="http://schemas.openxmlformats.org/drawingml/2006/main" noGrp="1"/>
          </p:cNvSpPr>
          <p:nvPr/>
        </p:nvSpPr>
        <p:spPr>
          <a:xfrm xmlns:a="http://schemas.openxmlformats.org/drawingml/2006/main">
            <a:off x="609600" y="19145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Три действия</a:t>
            </a:r>
          </a:p>
        </p:txBody>
      </p:sp>
      <p:sp>
        <p:nvSpPr>
          <p:cNvPr id="7" name="">
            <a:extLst xmlns:a="http://schemas.openxmlformats.org/drawingml/2006/main">
              <a:ext uri="{FF2B5EF4-FFF2-40B4-BE49-F238E27FC236}">
                <a16:creationId xmlns:a16="http://schemas.microsoft.com/office/drawing/2014/main" id="{199850C2-F95D-4049-8456-D066A091DB79}"/>
              </a:ext>
            </a:extLst>
          </p:cNvPr>
          <p:cNvSpPr>
            <a:spLocks xmlns:a="http://schemas.openxmlformats.org/drawingml/2006/main" noGrp="1"/>
          </p:cNvSpPr>
          <p:nvPr/>
        </p:nvSpPr>
        <p:spPr>
          <a:xfrm xmlns:a="http://schemas.openxmlformats.org/drawingml/2006/main">
            <a:off x="609600" y="2505075"/>
            <a:ext cx="6191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Согласовать ремонт</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Отказаться</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Задать вопрос</a:t>
            </a:r>
          </a:p>
        </p:txBody>
      </p:sp>
      <p:sp>
        <p:nvSpPr>
          <p:cNvPr id="8" name="">
            <a:extLst xmlns:a="http://schemas.openxmlformats.org/drawingml/2006/main">
              <a:ext uri="{FF2B5EF4-FFF2-40B4-BE49-F238E27FC236}">
                <a16:creationId xmlns:a16="http://schemas.microsoft.com/office/drawing/2014/main" id="{DA9F7008-8DB8-4259-A382-8E17120275C4}"/>
              </a:ext>
            </a:extLst>
          </p:cNvPr>
          <p:cNvSpPr>
            <a:spLocks xmlns:a="http://schemas.openxmlformats.org/drawingml/2006/main" noGrp="1"/>
          </p:cNvSpPr>
          <p:nvPr/>
        </p:nvSpPr>
        <p:spPr>
          <a:xfrm xmlns:a="http://schemas.openxmlformats.org/drawingml/2006/main">
            <a:off x="609600" y="4552950"/>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563EB"/>
                </a:solidFill>
                <a:latin typeface="Arial"/>
                <a:ea typeface="Arial"/>
                <a:cs typeface="Arial"/>
              </a:defRPr>
            </a:defPPr>
          </a:lstStyle>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Вопрос сначала получает ответ мастера.</a:t>
            </a:r>
          </a:p>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Затем клиент принимает решение.</a:t>
            </a:r>
          </a:p>
        </p:txBody>
      </p:sp>
      <p:sp>
        <p:nvSpPr>
          <p:cNvPr id="9" name="">
            <a:extLst xmlns:a="http://schemas.openxmlformats.org/drawingml/2006/main">
              <a:ext uri="{FF2B5EF4-FFF2-40B4-BE49-F238E27FC236}">
                <a16:creationId xmlns:a16="http://schemas.microsoft.com/office/drawing/2014/main" id="{08885B64-C1AA-47E4-8E25-2283F31800AA}"/>
              </a:ext>
            </a:extLst>
          </p:cNvPr>
          <p:cNvSpPr>
            <a:spLocks xmlns:a="http://schemas.openxmlformats.org/drawingml/2006/main" noGrp="1"/>
          </p:cNvSpPr>
          <p:nvPr/>
        </p:nvSpPr>
        <p:spPr>
          <a:xfrm xmlns:a="http://schemas.openxmlformats.org/drawingml/2006/main">
            <a:off x="609600" y="5667375"/>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667085"/>
                </a:solidFill>
                <a:latin typeface="Arial"/>
                <a:ea typeface="Arial"/>
                <a:cs typeface="Arial"/>
              </a:defRPr>
            </a:defPPr>
          </a:lstStyle>
          <a:p xmlns:a="http://schemas.openxmlformats.org/drawingml/2006/main">
            <a:pPr>
              <a:defRPr sz="1425" b="0">
                <a:solidFill>
                  <a:srgbClr val="667085"/>
                </a:solidFill>
                <a:latin typeface="Arial"/>
                <a:ea typeface="Arial"/>
                <a:cs typeface="Arial"/>
              </a:defRPr>
            </a:pPr>
            <a:r>
              <a:rPr sz="1425" b="0">
                <a:solidFill>
                  <a:srgbClr val="667085"/>
                </a:solidFill>
                <a:latin typeface="Arial"/>
                <a:ea typeface="Arial"/>
                <a:cs typeface="Arial"/>
              </a:rPr>
              <a:t>Ссылка фиксирует ответ держателя, без проверки личности.</a:t>
            </a:r>
          </a:p>
        </p:txBody>
      </p:sp>
    </p:spTree>
    <p:extLst>
      <p:ext uri="{BB962C8B-B14F-4D97-AF65-F5344CB8AC3E}">
        <p14:creationId xmlns:p14="http://schemas.microsoft.com/office/powerpoint/2010/main" val="377660067"/>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08FBC44-2EB5-42A7-9658-E76EE592585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Версии сохраняют прежнее решение</a:t>
            </a:r>
          </a:p>
        </p:txBody>
      </p:sp>
      <p:sp>
        <p:nvSpPr>
          <p:cNvPr id="2" name="">
            <a:extLst xmlns:a="http://schemas.openxmlformats.org/drawingml/2006/main">
              <a:ext uri="{FF2B5EF4-FFF2-40B4-BE49-F238E27FC236}">
                <a16:creationId xmlns:a16="http://schemas.microsoft.com/office/drawing/2014/main" id="{CBBF195A-BF05-4B6F-9FE2-F177789D5E9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0901F2-6C2E-444D-8266-B705190011CB}"/>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176AE9C9-3590-4C52-9369-79270C77E6C3}"/>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2802BFE-69C2-4ACB-A7F7-182D61D1A61E}"/>
              </a:ext>
            </a:extLst>
          </p:cNvPr>
          <p:cNvSpPr>
            <a:spLocks xmlns:a="http://schemas.openxmlformats.org/drawingml/2006/main" noGrp="1"/>
          </p:cNvSpPr>
          <p:nvPr/>
        </p:nvSpPr>
        <p:spPr>
          <a:xfrm xmlns:a="http://schemas.openxmlformats.org/drawingml/2006/main">
            <a:off x="609600" y="1952625"/>
            <a:ext cx="10972800" cy="1000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0C6B2A-CF62-40E2-B5AD-5926C774FE16}"/>
              </a:ext>
            </a:extLst>
          </p:cNvPr>
          <p:cNvSpPr>
            <a:spLocks xmlns:a="http://schemas.openxmlformats.org/drawingml/2006/main" noGrp="1"/>
          </p:cNvSpPr>
          <p:nvPr/>
        </p:nvSpPr>
        <p:spPr>
          <a:xfrm xmlns:a="http://schemas.openxmlformats.org/drawingml/2006/main">
            <a:off x="838200" y="21812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2033"/>
                </a:solidFill>
                <a:latin typeface="Arial"/>
                <a:ea typeface="Arial"/>
                <a:cs typeface="Arial"/>
              </a:defRPr>
            </a:defPPr>
          </a:lstStyle>
          <a:p xmlns:a="http://schemas.openxmlformats.org/drawingml/2006/main">
            <a:pPr>
              <a:defRPr sz="2175" b="1">
                <a:solidFill>
                  <a:srgbClr val="172033"/>
                </a:solidFill>
                <a:latin typeface="Arial"/>
                <a:ea typeface="Arial"/>
                <a:cs typeface="Arial"/>
              </a:defRPr>
            </a:pPr>
            <a:r>
              <a:rPr sz="2175" b="1">
                <a:solidFill>
                  <a:srgbClr val="172033"/>
                </a:solidFill>
                <a:latin typeface="Arial"/>
                <a:ea typeface="Arial"/>
                <a:cs typeface="Arial"/>
              </a:rPr>
              <a:t>Версия 1</a:t>
            </a:r>
          </a:p>
        </p:txBody>
      </p:sp>
      <p:sp>
        <p:nvSpPr>
          <p:cNvPr id="7" name="">
            <a:extLst xmlns:a="http://schemas.openxmlformats.org/drawingml/2006/main">
              <a:ext uri="{FF2B5EF4-FFF2-40B4-BE49-F238E27FC236}">
                <a16:creationId xmlns:a16="http://schemas.microsoft.com/office/drawing/2014/main" id="{2DF1AD47-E63E-4F86-899E-6F22385D4DD9}"/>
              </a:ext>
            </a:extLst>
          </p:cNvPr>
          <p:cNvSpPr>
            <a:spLocks xmlns:a="http://schemas.openxmlformats.org/drawingml/2006/main" noGrp="1"/>
          </p:cNvSpPr>
          <p:nvPr/>
        </p:nvSpPr>
        <p:spPr>
          <a:xfrm xmlns:a="http://schemas.openxmlformats.org/drawingml/2006/main">
            <a:off x="4171950" y="218122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563EB"/>
                </a:solidFill>
                <a:latin typeface="Arial"/>
                <a:ea typeface="Arial"/>
                <a:cs typeface="Arial"/>
              </a:defRPr>
            </a:defPPr>
          </a:lstStyle>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400 000 сум</a:t>
            </a:r>
          </a:p>
        </p:txBody>
      </p:sp>
      <p:sp>
        <p:nvSpPr>
          <p:cNvPr id="8" name="">
            <a:extLst xmlns:a="http://schemas.openxmlformats.org/drawingml/2006/main">
              <a:ext uri="{FF2B5EF4-FFF2-40B4-BE49-F238E27FC236}">
                <a16:creationId xmlns:a16="http://schemas.microsoft.com/office/drawing/2014/main" id="{773ABC54-95E7-4C67-B5D8-EEC218CB9945}"/>
              </a:ext>
            </a:extLst>
          </p:cNvPr>
          <p:cNvSpPr>
            <a:spLocks xmlns:a="http://schemas.openxmlformats.org/drawingml/2006/main" noGrp="1"/>
          </p:cNvSpPr>
          <p:nvPr/>
        </p:nvSpPr>
        <p:spPr>
          <a:xfrm xmlns:a="http://schemas.openxmlformats.org/drawingml/2006/main">
            <a:off x="7172325" y="22098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Решение клиента сохранено</a:t>
            </a:r>
          </a:p>
        </p:txBody>
      </p:sp>
      <p:sp>
        <p:nvSpPr>
          <p:cNvPr id="9" name="">
            <a:extLst xmlns:a="http://schemas.openxmlformats.org/drawingml/2006/main">
              <a:ext uri="{FF2B5EF4-FFF2-40B4-BE49-F238E27FC236}">
                <a16:creationId xmlns:a16="http://schemas.microsoft.com/office/drawing/2014/main" id="{01E7531F-25D3-4D2E-AFD3-4E0FF187A8C7}"/>
              </a:ext>
            </a:extLst>
          </p:cNvPr>
          <p:cNvSpPr>
            <a:spLocks xmlns:a="http://schemas.openxmlformats.org/drawingml/2006/main" noGrp="1"/>
          </p:cNvSpPr>
          <p:nvPr/>
        </p:nvSpPr>
        <p:spPr>
          <a:xfrm xmlns:a="http://schemas.openxmlformats.org/drawingml/2006/main">
            <a:off x="609600" y="3209925"/>
            <a:ext cx="10972800" cy="1000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E9EC707-53DA-4098-9CEC-56145DC8E4CB}"/>
              </a:ext>
            </a:extLst>
          </p:cNvPr>
          <p:cNvSpPr>
            <a:spLocks xmlns:a="http://schemas.openxmlformats.org/drawingml/2006/main" noGrp="1"/>
          </p:cNvSpPr>
          <p:nvPr/>
        </p:nvSpPr>
        <p:spPr>
          <a:xfrm xmlns:a="http://schemas.openxmlformats.org/drawingml/2006/main">
            <a:off x="838200" y="34385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2033"/>
                </a:solidFill>
                <a:latin typeface="Arial"/>
                <a:ea typeface="Arial"/>
                <a:cs typeface="Arial"/>
              </a:defRPr>
            </a:defPPr>
          </a:lstStyle>
          <a:p xmlns:a="http://schemas.openxmlformats.org/drawingml/2006/main">
            <a:pPr>
              <a:defRPr sz="2175" b="1">
                <a:solidFill>
                  <a:srgbClr val="172033"/>
                </a:solidFill>
                <a:latin typeface="Arial"/>
                <a:ea typeface="Arial"/>
                <a:cs typeface="Arial"/>
              </a:defRPr>
            </a:pPr>
            <a:r>
              <a:rPr sz="2175" b="1">
                <a:solidFill>
                  <a:srgbClr val="172033"/>
                </a:solidFill>
                <a:latin typeface="Arial"/>
                <a:ea typeface="Arial"/>
                <a:cs typeface="Arial"/>
              </a:rPr>
              <a:t>Новый черновик</a:t>
            </a:r>
          </a:p>
        </p:txBody>
      </p:sp>
      <p:sp>
        <p:nvSpPr>
          <p:cNvPr id="11" name="">
            <a:extLst xmlns:a="http://schemas.openxmlformats.org/drawingml/2006/main">
              <a:ext uri="{FF2B5EF4-FFF2-40B4-BE49-F238E27FC236}">
                <a16:creationId xmlns:a16="http://schemas.microsoft.com/office/drawing/2014/main" id="{155B5211-5B56-4D0C-A4D9-32102A39362D}"/>
              </a:ext>
            </a:extLst>
          </p:cNvPr>
          <p:cNvSpPr>
            <a:spLocks xmlns:a="http://schemas.openxmlformats.org/drawingml/2006/main" noGrp="1"/>
          </p:cNvSpPr>
          <p:nvPr/>
        </p:nvSpPr>
        <p:spPr>
          <a:xfrm xmlns:a="http://schemas.openxmlformats.org/drawingml/2006/main">
            <a:off x="4171950" y="343852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563EB"/>
                </a:solidFill>
                <a:latin typeface="Arial"/>
                <a:ea typeface="Arial"/>
                <a:cs typeface="Arial"/>
              </a:defRPr>
            </a:defPPr>
          </a:lstStyle>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430 000 сум</a:t>
            </a:r>
          </a:p>
        </p:txBody>
      </p:sp>
      <p:sp>
        <p:nvSpPr>
          <p:cNvPr id="12" name="">
            <a:extLst xmlns:a="http://schemas.openxmlformats.org/drawingml/2006/main">
              <a:ext uri="{FF2B5EF4-FFF2-40B4-BE49-F238E27FC236}">
                <a16:creationId xmlns:a16="http://schemas.microsoft.com/office/drawing/2014/main" id="{458BF9A5-711F-4238-8C86-AB78686F5EAF}"/>
              </a:ext>
            </a:extLst>
          </p:cNvPr>
          <p:cNvSpPr>
            <a:spLocks xmlns:a="http://schemas.openxmlformats.org/drawingml/2006/main" noGrp="1"/>
          </p:cNvSpPr>
          <p:nvPr/>
        </p:nvSpPr>
        <p:spPr>
          <a:xfrm xmlns:a="http://schemas.openxmlformats.org/drawingml/2006/main">
            <a:off x="7172325" y="34671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Старая ссылка ещё действует</a:t>
            </a:r>
          </a:p>
        </p:txBody>
      </p:sp>
      <p:sp>
        <p:nvSpPr>
          <p:cNvPr id="13" name="">
            <a:extLst xmlns:a="http://schemas.openxmlformats.org/drawingml/2006/main">
              <a:ext uri="{FF2B5EF4-FFF2-40B4-BE49-F238E27FC236}">
                <a16:creationId xmlns:a16="http://schemas.microsoft.com/office/drawing/2014/main" id="{77BF7DC0-BC34-4CD2-B85A-5FB5E26C08A3}"/>
              </a:ext>
            </a:extLst>
          </p:cNvPr>
          <p:cNvSpPr>
            <a:spLocks xmlns:a="http://schemas.openxmlformats.org/drawingml/2006/main" noGrp="1"/>
          </p:cNvSpPr>
          <p:nvPr/>
        </p:nvSpPr>
        <p:spPr>
          <a:xfrm xmlns:a="http://schemas.openxmlformats.org/drawingml/2006/main">
            <a:off x="609600" y="4467225"/>
            <a:ext cx="10972800" cy="1000125"/>
          </a:xfrm>
          <a:prstGeom xmlns:a="http://schemas.openxmlformats.org/drawingml/2006/main" prst="rect">
            <a:avLst/>
          </a:prstGeom>
          <a:solidFill xmlns:a="http://schemas.openxmlformats.org/drawingml/2006/main">
            <a:srgbClr val="EFF6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849490D-B307-4DD7-A5A4-90704B667AEF}"/>
              </a:ext>
            </a:extLst>
          </p:cNvPr>
          <p:cNvSpPr>
            <a:spLocks xmlns:a="http://schemas.openxmlformats.org/drawingml/2006/main" noGrp="1"/>
          </p:cNvSpPr>
          <p:nvPr/>
        </p:nvSpPr>
        <p:spPr>
          <a:xfrm xmlns:a="http://schemas.openxmlformats.org/drawingml/2006/main">
            <a:off x="838200" y="46958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2033"/>
                </a:solidFill>
                <a:latin typeface="Arial"/>
                <a:ea typeface="Arial"/>
                <a:cs typeface="Arial"/>
              </a:defRPr>
            </a:defPPr>
          </a:lstStyle>
          <a:p xmlns:a="http://schemas.openxmlformats.org/drawingml/2006/main">
            <a:pPr>
              <a:defRPr sz="2175" b="1">
                <a:solidFill>
                  <a:srgbClr val="172033"/>
                </a:solidFill>
                <a:latin typeface="Arial"/>
                <a:ea typeface="Arial"/>
                <a:cs typeface="Arial"/>
              </a:defRPr>
            </a:pPr>
            <a:r>
              <a:rPr sz="2175" b="1">
                <a:solidFill>
                  <a:srgbClr val="172033"/>
                </a:solidFill>
                <a:latin typeface="Arial"/>
                <a:ea typeface="Arial"/>
                <a:cs typeface="Arial"/>
              </a:rPr>
              <a:t>Версия 2</a:t>
            </a:r>
          </a:p>
        </p:txBody>
      </p:sp>
      <p:sp>
        <p:nvSpPr>
          <p:cNvPr id="15" name="">
            <a:extLst xmlns:a="http://schemas.openxmlformats.org/drawingml/2006/main">
              <a:ext uri="{FF2B5EF4-FFF2-40B4-BE49-F238E27FC236}">
                <a16:creationId xmlns:a16="http://schemas.microsoft.com/office/drawing/2014/main" id="{16B92DCA-98AB-47C7-B83F-CEC12E023151}"/>
              </a:ext>
            </a:extLst>
          </p:cNvPr>
          <p:cNvSpPr>
            <a:spLocks xmlns:a="http://schemas.openxmlformats.org/drawingml/2006/main" noGrp="1"/>
          </p:cNvSpPr>
          <p:nvPr/>
        </p:nvSpPr>
        <p:spPr>
          <a:xfrm xmlns:a="http://schemas.openxmlformats.org/drawingml/2006/main">
            <a:off x="4171950" y="469582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563EB"/>
                </a:solidFill>
                <a:latin typeface="Arial"/>
                <a:ea typeface="Arial"/>
                <a:cs typeface="Arial"/>
              </a:defRPr>
            </a:defPPr>
          </a:lstStyle>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430 000 сум</a:t>
            </a:r>
          </a:p>
        </p:txBody>
      </p:sp>
      <p:sp>
        <p:nvSpPr>
          <p:cNvPr id="16" name="">
            <a:extLst xmlns:a="http://schemas.openxmlformats.org/drawingml/2006/main">
              <a:ext uri="{FF2B5EF4-FFF2-40B4-BE49-F238E27FC236}">
                <a16:creationId xmlns:a16="http://schemas.microsoft.com/office/drawing/2014/main" id="{291AB285-4B82-4875-9C79-EA2AF8D01E63}"/>
              </a:ext>
            </a:extLst>
          </p:cNvPr>
          <p:cNvSpPr>
            <a:spLocks xmlns:a="http://schemas.openxmlformats.org/drawingml/2006/main" noGrp="1"/>
          </p:cNvSpPr>
          <p:nvPr/>
        </p:nvSpPr>
        <p:spPr>
          <a:xfrm xmlns:a="http://schemas.openxmlformats.org/drawingml/2006/main">
            <a:off x="7172325" y="47244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Новая ссылка и новое решение</a:t>
            </a:r>
          </a:p>
        </p:txBody>
      </p:sp>
    </p:spTree>
    <p:extLst>
      <p:ext uri="{BB962C8B-B14F-4D97-AF65-F5344CB8AC3E}">
        <p14:creationId xmlns:p14="http://schemas.microsoft.com/office/powerpoint/2010/main" val="1365284562"/>
      </p:ext>
    </p:extLst>
  </p:cSld>
</p:sld>
</file>

<file path=ppt/slides/slide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F0C410-D358-47F5-AC46-C6B1E6B9386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AI помогает с текстом</a:t>
            </a:r>
          </a:p>
        </p:txBody>
      </p:sp>
      <p:sp>
        <p:nvSpPr>
          <p:cNvPr id="2" name="">
            <a:extLst xmlns:a="http://schemas.openxmlformats.org/drawingml/2006/main">
              <a:ext uri="{FF2B5EF4-FFF2-40B4-BE49-F238E27FC236}">
                <a16:creationId xmlns:a16="http://schemas.microsoft.com/office/drawing/2014/main" id="{38D5F428-96B6-4EED-83F4-33EE716B67A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F1A0C0-546B-41D4-90D9-2BC09CBB21BA}"/>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F3B7EAB3-2EF8-4D5F-A32B-DCD21A936CAD}"/>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4DD563F8-73A5-4DEB-8547-35D2AB456CCD}"/>
              </a:ext>
            </a:extLst>
          </p:cNvPr>
          <p:cNvSpPr>
            <a:spLocks xmlns:a="http://schemas.openxmlformats.org/drawingml/2006/main" noGrp="1"/>
          </p:cNvSpPr>
          <p:nvPr/>
        </p:nvSpPr>
        <p:spPr>
          <a:xfrm xmlns:a="http://schemas.openxmlformats.org/drawingml/2006/main">
            <a:off x="609600" y="196215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Получает</a:t>
            </a:r>
          </a:p>
        </p:txBody>
      </p:sp>
      <p:sp>
        <p:nvSpPr>
          <p:cNvPr id="6" name="">
            <a:extLst xmlns:a="http://schemas.openxmlformats.org/drawingml/2006/main">
              <a:ext uri="{FF2B5EF4-FFF2-40B4-BE49-F238E27FC236}">
                <a16:creationId xmlns:a16="http://schemas.microsoft.com/office/drawing/2014/main" id="{2C737193-6D5C-4C85-8948-2EFCE64A943F}"/>
              </a:ext>
            </a:extLst>
          </p:cNvPr>
          <p:cNvSpPr>
            <a:spLocks xmlns:a="http://schemas.openxmlformats.org/drawingml/2006/main" noGrp="1"/>
          </p:cNvSpPr>
          <p:nvPr/>
        </p:nvSpPr>
        <p:spPr>
          <a:xfrm xmlns:a="http://schemas.openxmlformats.org/drawingml/2006/main">
            <a:off x="609600" y="2552700"/>
            <a:ext cx="3238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Заметку мастера</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Названия введённых работ</a:t>
            </a:r>
          </a:p>
        </p:txBody>
      </p:sp>
      <p:sp>
        <p:nvSpPr>
          <p:cNvPr id="7" name="">
            <a:extLst xmlns:a="http://schemas.openxmlformats.org/drawingml/2006/main">
              <a:ext uri="{FF2B5EF4-FFF2-40B4-BE49-F238E27FC236}">
                <a16:creationId xmlns:a16="http://schemas.microsoft.com/office/drawing/2014/main" id="{0BACCDBF-2BE2-4AF6-8A0C-61EB7373A261}"/>
              </a:ext>
            </a:extLst>
          </p:cNvPr>
          <p:cNvSpPr>
            <a:spLocks xmlns:a="http://schemas.openxmlformats.org/drawingml/2006/main" noGrp="1"/>
          </p:cNvSpPr>
          <p:nvPr/>
        </p:nvSpPr>
        <p:spPr>
          <a:xfrm xmlns:a="http://schemas.openxmlformats.org/drawingml/2006/main">
            <a:off x="4438650" y="196215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Возвращает</a:t>
            </a:r>
          </a:p>
        </p:txBody>
      </p:sp>
      <p:sp>
        <p:nvSpPr>
          <p:cNvPr id="8" name="">
            <a:extLst xmlns:a="http://schemas.openxmlformats.org/drawingml/2006/main">
              <a:ext uri="{FF2B5EF4-FFF2-40B4-BE49-F238E27FC236}">
                <a16:creationId xmlns:a16="http://schemas.microsoft.com/office/drawing/2014/main" id="{29D945FC-5C7E-4993-8F43-F94DC1FCEB04}"/>
              </a:ext>
            </a:extLst>
          </p:cNvPr>
          <p:cNvSpPr>
            <a:spLocks xmlns:a="http://schemas.openxmlformats.org/drawingml/2006/main" noGrp="1"/>
          </p:cNvSpPr>
          <p:nvPr/>
        </p:nvSpPr>
        <p:spPr>
          <a:xfrm xmlns:a="http://schemas.openxmlformats.org/drawingml/2006/main">
            <a:off x="4438650" y="2552700"/>
            <a:ext cx="3238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Объяснение проблемы</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Объяснение работ</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Недостающие сведения</a:t>
            </a:r>
          </a:p>
        </p:txBody>
      </p:sp>
      <p:sp>
        <p:nvSpPr>
          <p:cNvPr id="9" name="">
            <a:extLst xmlns:a="http://schemas.openxmlformats.org/drawingml/2006/main">
              <a:ext uri="{FF2B5EF4-FFF2-40B4-BE49-F238E27FC236}">
                <a16:creationId xmlns:a16="http://schemas.microsoft.com/office/drawing/2014/main" id="{9892D9A7-A13F-47AB-AB07-DFBC5A4AE8D5}"/>
              </a:ext>
            </a:extLst>
          </p:cNvPr>
          <p:cNvSpPr>
            <a:spLocks xmlns:a="http://schemas.openxmlformats.org/drawingml/2006/main" noGrp="1"/>
          </p:cNvSpPr>
          <p:nvPr/>
        </p:nvSpPr>
        <p:spPr>
          <a:xfrm xmlns:a="http://schemas.openxmlformats.org/drawingml/2006/main">
            <a:off x="8286750" y="196215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Проверяет мастер</a:t>
            </a:r>
          </a:p>
        </p:txBody>
      </p:sp>
      <p:sp>
        <p:nvSpPr>
          <p:cNvPr id="10" name="">
            <a:extLst xmlns:a="http://schemas.openxmlformats.org/drawingml/2006/main">
              <a:ext uri="{FF2B5EF4-FFF2-40B4-BE49-F238E27FC236}">
                <a16:creationId xmlns:a16="http://schemas.microsoft.com/office/drawing/2014/main" id="{EC0DCF1E-565A-4778-A3DC-CFE20BD5D63B}"/>
              </a:ext>
            </a:extLst>
          </p:cNvPr>
          <p:cNvSpPr>
            <a:spLocks xmlns:a="http://schemas.openxmlformats.org/drawingml/2006/main" noGrp="1"/>
          </p:cNvSpPr>
          <p:nvPr/>
        </p:nvSpPr>
        <p:spPr>
          <a:xfrm xmlns:a="http://schemas.openxmlformats.org/drawingml/2006/main">
            <a:off x="8286750" y="2552700"/>
            <a:ext cx="3238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Оценивает факты</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Редактирует текст</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Явно переносит в смету</a:t>
            </a:r>
          </a:p>
        </p:txBody>
      </p:sp>
      <p:sp>
        <p:nvSpPr>
          <p:cNvPr id="11" name="">
            <a:extLst xmlns:a="http://schemas.openxmlformats.org/drawingml/2006/main">
              <a:ext uri="{FF2B5EF4-FFF2-40B4-BE49-F238E27FC236}">
                <a16:creationId xmlns:a16="http://schemas.microsoft.com/office/drawing/2014/main" id="{C4904868-467A-425B-B2AB-2ECC51C5A8CC}"/>
              </a:ext>
            </a:extLst>
          </p:cNvPr>
          <p:cNvSpPr>
            <a:spLocks xmlns:a="http://schemas.openxmlformats.org/drawingml/2006/main" noGrp="1"/>
          </p:cNvSpPr>
          <p:nvPr/>
        </p:nvSpPr>
        <p:spPr>
          <a:xfrm xmlns:a="http://schemas.openxmlformats.org/drawingml/2006/main">
            <a:off x="609600" y="5057775"/>
            <a:ext cx="10972800" cy="895350"/>
          </a:xfrm>
          <a:prstGeom xmlns:a="http://schemas.openxmlformats.org/drawingml/2006/main" prst="rect">
            <a:avLst/>
          </a:prstGeom>
          <a:solidFill xmlns:a="http://schemas.openxmlformats.org/drawingml/2006/main">
            <a:srgbClr val="FFFB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DFCA365-087A-4DFC-8E1D-78AA7108D520}"/>
              </a:ext>
            </a:extLst>
          </p:cNvPr>
          <p:cNvSpPr>
            <a:spLocks xmlns:a="http://schemas.openxmlformats.org/drawingml/2006/main" noGrp="1"/>
          </p:cNvSpPr>
          <p:nvPr/>
        </p:nvSpPr>
        <p:spPr>
          <a:xfrm xmlns:a="http://schemas.openxmlformats.org/drawingml/2006/main">
            <a:off x="838200" y="52959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92400E"/>
                </a:solidFill>
                <a:latin typeface="Arial"/>
                <a:ea typeface="Arial"/>
                <a:cs typeface="Arial"/>
              </a:defRPr>
            </a:defPPr>
          </a:lstStyle>
          <a:p xmlns:a="http://schemas.openxmlformats.org/drawingml/2006/main">
            <a:pPr>
              <a:defRPr sz="1950" b="1">
                <a:solidFill>
                  <a:srgbClr val="92400E"/>
                </a:solidFill>
                <a:latin typeface="Arial"/>
                <a:ea typeface="Arial"/>
                <a:cs typeface="Arial"/>
              </a:defRPr>
            </a:pPr>
            <a:r>
              <a:rPr sz="1950" b="1">
                <a:solidFill>
                  <a:srgbClr val="92400E"/>
                </a:solidFill>
                <a:latin typeface="Arial"/>
                <a:ea typeface="Arial"/>
                <a:cs typeface="Arial"/>
              </a:rPr>
              <a:t>Реальная модель не проверена. Ручной сценарий работает без ключа.</a:t>
            </a:r>
          </a:p>
        </p:txBody>
      </p:sp>
    </p:spTree>
    <p:extLst>
      <p:ext uri="{BB962C8B-B14F-4D97-AF65-F5344CB8AC3E}">
        <p14:creationId xmlns:p14="http://schemas.microsoft.com/office/powerpoint/2010/main" val="294995884"/>
      </p:ext>
    </p:extLst>
  </p:cSld>
</p:sld>
</file>

<file path=ppt/slides/slide1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24707A-38A8-4DE5-9E65-166877C6639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Конкуренты и отличие</a:t>
            </a:r>
          </a:p>
        </p:txBody>
      </p:sp>
      <p:sp>
        <p:nvSpPr>
          <p:cNvPr id="2" name="">
            <a:extLst xmlns:a="http://schemas.openxmlformats.org/drawingml/2006/main">
              <a:ext uri="{FF2B5EF4-FFF2-40B4-BE49-F238E27FC236}">
                <a16:creationId xmlns:a16="http://schemas.microsoft.com/office/drawing/2014/main" id="{949047C5-315B-479A-AF59-818EFD4AE29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584986-E07A-4E99-9394-5AFBA1F4280F}"/>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4F7F5CEB-39D7-48D6-A427-9AEE6A2A59C8}"/>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557EF05D-C5C6-4E6C-9903-1008A271245A}"/>
              </a:ext>
            </a:extLst>
          </p:cNvPr>
          <p:cNvGraphicFramePr/>
          <p:nvPr/>
        </p:nvGraphicFramePr>
        <p:xfrm>
          <a:off xmlns:a="http://schemas.openxmlformats.org/drawingml/2006/main" x="609600" y="1847850"/>
          <a:ext xmlns:a="http://schemas.openxmlformats.org/drawingml/2006/main" cx="10972800" cy="2686050"/>
        </p:xfrm>
        <a:graphic xmlns:a="http://schemas.openxmlformats.org/drawingml/2006/main">
          <a:graphicData uri="http://schemas.openxmlformats.org/drawingml/2006/table">
            <a:tbl>
              <a:tblPr/>
              <a:tblGrid>
                <a:gridCol w="2190750"/>
                <a:gridCol w="4762500"/>
                <a:gridCol w="4019550"/>
              </a:tblGrid>
              <a:tr h="671513">
                <a:tc>
                  <a:txBody>
                    <a:bodyPr/>
                    <a:lstStyle/>
                    <a:p>
                      <a:r>
                        <a:rPr sz="1650" b="1">
                          <a:solidFill>
                            <a:srgbClr val="FFFFFF"/>
                          </a:solidFill>
                          <a:latin typeface="Arial"/>
                          <a:ea typeface="Arial"/>
                          <a:cs typeface="Arial"/>
                        </a:rPr>
                        <a:t>Продукт</a:t>
                      </a:r>
                    </a:p>
                  </a:txBody>
                  <a:tcPr marL="91440" marR="91440" marT="45720" marB="45720">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2563EB"/>
                    </a:solidFill>
                  </a:tcPr>
                </a:tc>
                <a:tc>
                  <a:txBody>
                    <a:bodyPr/>
                    <a:lstStyle/>
                    <a:p>
                      <a:r>
                        <a:rPr sz="1650" b="1">
                          <a:solidFill>
                            <a:srgbClr val="FFFFFF"/>
                          </a:solidFill>
                          <a:latin typeface="Arial"/>
                          <a:ea typeface="Arial"/>
                          <a:cs typeface="Arial"/>
                        </a:rPr>
                        <a:t>Подтверждённые функции</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2563EB"/>
                    </a:solidFill>
                  </a:tcPr>
                </a:tc>
                <a:tc>
                  <a:txBody>
                    <a:bodyPr/>
                    <a:lstStyle/>
                    <a:p>
                      <a:r>
                        <a:rPr sz="1650" b="1">
                          <a:solidFill>
                            <a:srgbClr val="FFFFFF"/>
                          </a:solidFill>
                          <a:latin typeface="Arial"/>
                          <a:ea typeface="Arial"/>
                          <a:cs typeface="Arial"/>
                        </a:rPr>
                        <a:t>Выбранный фокус</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2563EB"/>
                    </a:solidFill>
                  </a:tcPr>
                </a:tc>
              </a:tr>
              <a:tr h="671513">
                <a:tc>
                  <a:txBody>
                    <a:bodyPr/>
                    <a:lstStyle/>
                    <a:p>
                      <a:r>
                        <a:rPr sz="1575" b="0">
                          <a:solidFill>
                            <a:srgbClr val="172033"/>
                          </a:solidFill>
                          <a:latin typeface="Arial"/>
                          <a:ea typeface="Arial"/>
                          <a:cs typeface="Arial"/>
                        </a:rPr>
                        <a:t>RepairDesk</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575" b="0">
                          <a:solidFill>
                            <a:srgbClr val="172033"/>
                          </a:solidFill>
                          <a:latin typeface="Arial"/>
                          <a:ea typeface="Arial"/>
                          <a:cs typeface="Arial"/>
                        </a:rPr>
                        <a:t>Сметы, согласование, отказ</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1575" b="0">
                          <a:solidFill>
                            <a:srgbClr val="172033"/>
                          </a:solidFill>
                          <a:latin typeface="Arial"/>
                          <a:ea typeface="Arial"/>
                          <a:cs typeface="Arial"/>
                        </a:rPr>
                        <a:t>Система для ремонтных мастерских</a:t>
                      </a:r>
                    </a:p>
                  </a:txBody>
                  <a:tcPr marL="91440" marR="91440" marT="45720" marB="45720">
                    <a:lnR w="9525">
                      <a:solidFill>
                        <a:srgbClr val="E2E8F0"/>
                      </a:solidFill>
                      <a:prstDash val="solid"/>
                    </a:lnR>
                    <a:lnB w="9525">
                      <a:solidFill>
                        <a:srgbClr val="E2E8F0"/>
                      </a:solidFill>
                      <a:prstDash val="solid"/>
                    </a:lnB>
                    <a:solidFill>
                      <a:srgbClr val="FFFFFF"/>
                    </a:solidFill>
                  </a:tcPr>
                </a:tc>
              </a:tr>
              <a:tr h="671513">
                <a:tc>
                  <a:txBody>
                    <a:bodyPr/>
                    <a:lstStyle/>
                    <a:p>
                      <a:r>
                        <a:rPr sz="1575" b="0">
                          <a:solidFill>
                            <a:srgbClr val="172033"/>
                          </a:solidFill>
                          <a:latin typeface="Arial"/>
                          <a:ea typeface="Arial"/>
                          <a:cs typeface="Arial"/>
                        </a:rPr>
                        <a:t>Orderry</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575" b="0">
                          <a:solidFill>
                            <a:srgbClr val="172033"/>
                          </a:solidFill>
                          <a:latin typeface="Arial"/>
                          <a:ea typeface="Arial"/>
                          <a:cs typeface="Arial"/>
                        </a:rPr>
                        <a:t>Публичные формы, подписи</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1575" b="0">
                          <a:solidFill>
                            <a:srgbClr val="172033"/>
                          </a:solidFill>
                          <a:latin typeface="Arial"/>
                          <a:ea typeface="Arial"/>
                          <a:cs typeface="Arial"/>
                        </a:rPr>
                        <a:t>Смета и последующий заказ</a:t>
                      </a:r>
                    </a:p>
                  </a:txBody>
                  <a:tcPr marL="91440" marR="91440" marT="45720" marB="45720">
                    <a:lnR w="9525">
                      <a:solidFill>
                        <a:srgbClr val="E2E8F0"/>
                      </a:solidFill>
                      <a:prstDash val="solid"/>
                    </a:lnR>
                    <a:lnB w="9525">
                      <a:solidFill>
                        <a:srgbClr val="E2E8F0"/>
                      </a:solidFill>
                      <a:prstDash val="solid"/>
                    </a:lnB>
                    <a:solidFill>
                      <a:srgbClr val="FFFFFF"/>
                    </a:solidFill>
                  </a:tcPr>
                </a:tc>
              </a:tr>
              <a:tr h="671513">
                <a:tc>
                  <a:txBody>
                    <a:bodyPr/>
                    <a:lstStyle/>
                    <a:p>
                      <a:r>
                        <a:rPr sz="1575" b="0">
                          <a:solidFill>
                            <a:srgbClr val="172033"/>
                          </a:solidFill>
                          <a:latin typeface="Arial"/>
                          <a:ea typeface="Arial"/>
                          <a:cs typeface="Arial"/>
                        </a:rPr>
                        <a:t>Jobber</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1575" b="0">
                          <a:solidFill>
                            <a:srgbClr val="172033"/>
                          </a:solidFill>
                          <a:latin typeface="Arial"/>
                          <a:ea typeface="Arial"/>
                          <a:cs typeface="Arial"/>
                        </a:rPr>
                        <a:t>Client hub, запрос изменений</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1575" b="0">
                          <a:solidFill>
                            <a:srgbClr val="172033"/>
                          </a:solidFill>
                          <a:latin typeface="Arial"/>
                          <a:ea typeface="Arial"/>
                          <a:cs typeface="Arial"/>
                        </a:rPr>
                        <a:t>Сервисные работы и предложения</a:t>
                      </a:r>
                    </a:p>
                  </a:txBody>
                  <a:tcPr marL="91440" marR="91440" marT="45720" marB="45720">
                    <a:lnR w="9525">
                      <a:solidFill>
                        <a:srgbClr val="E2E8F0"/>
                      </a:solidFill>
                      <a:prstDash val="solid"/>
                    </a:lnR>
                    <a:lnB w="9525">
                      <a:solidFill>
                        <a:srgbClr val="E2E8F0"/>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2919EB9-C1DF-422E-B1E8-D1D0E47EBD0F}"/>
              </a:ext>
            </a:extLst>
          </p:cNvPr>
          <p:cNvSpPr>
            <a:spLocks xmlns:a="http://schemas.openxmlformats.org/drawingml/2006/main" noGrp="1"/>
          </p:cNvSpPr>
          <p:nvPr/>
        </p:nvSpPr>
        <p:spPr>
          <a:xfrm xmlns:a="http://schemas.openxmlformats.org/drawingml/2006/main">
            <a:off x="609600" y="49625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563EB"/>
                </a:solidFill>
                <a:latin typeface="Arial"/>
                <a:ea typeface="Arial"/>
                <a:cs typeface="Arial"/>
              </a:defRPr>
            </a:defPPr>
          </a:lstStyle>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Согласовано: три сценария ремонта, UZS, время Ташкента, ручная отправка ссылки</a:t>
            </a:r>
          </a:p>
        </p:txBody>
      </p:sp>
    </p:spTree>
    <p:extLst>
      <p:ext uri="{BB962C8B-B14F-4D97-AF65-F5344CB8AC3E}">
        <p14:creationId xmlns:p14="http://schemas.microsoft.com/office/powerpoint/2010/main" val="335099813"/>
      </p:ext>
    </p:extLst>
  </p:cSld>
</p:sld>
</file>

<file path=ppt/slides/slide1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4BD9C18-EB94-497B-95CC-9C400AEDA270}"/>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Первые продажи и пилот</a:t>
            </a:r>
          </a:p>
        </p:txBody>
      </p:sp>
      <p:sp>
        <p:nvSpPr>
          <p:cNvPr id="2" name="">
            <a:extLst xmlns:a="http://schemas.openxmlformats.org/drawingml/2006/main">
              <a:ext uri="{FF2B5EF4-FFF2-40B4-BE49-F238E27FC236}">
                <a16:creationId xmlns:a16="http://schemas.microsoft.com/office/drawing/2014/main" id="{2E17BF9A-79E5-4E63-81D2-CC66CB683E3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9A79CC-2169-40DE-A050-DA8486A735D0}"/>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A023FF3F-72CC-4FB5-845E-2E300762C7E0}"/>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D7A4D460-995D-4BBE-8FAC-6E226CBF8FB2}"/>
              </a:ext>
            </a:extLst>
          </p:cNvPr>
          <p:cNvSpPr>
            <a:spLocks xmlns:a="http://schemas.openxmlformats.org/drawingml/2006/main" noGrp="1"/>
          </p:cNvSpPr>
          <p:nvPr/>
        </p:nvSpPr>
        <p:spPr>
          <a:xfrm xmlns:a="http://schemas.openxmlformats.org/drawingml/2006/main">
            <a:off x="609600" y="182880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2563EB"/>
                </a:solidFill>
                <a:latin typeface="Arial"/>
                <a:ea typeface="Arial"/>
                <a:cs typeface="Arial"/>
              </a:defRPr>
            </a:defPPr>
          </a:lstStyle>
          <a:p xmlns:a="http://schemas.openxmlformats.org/drawingml/2006/main">
            <a:pPr>
              <a:defRPr sz="4800" b="1">
                <a:solidFill>
                  <a:srgbClr val="2563EB"/>
                </a:solidFill>
                <a:latin typeface="Arial"/>
                <a:ea typeface="Arial"/>
                <a:cs typeface="Arial"/>
              </a:defRPr>
            </a:pPr>
            <a:r>
              <a:rPr sz="4800" b="1">
                <a:solidFill>
                  <a:srgbClr val="2563EB"/>
                </a:solidFill>
                <a:latin typeface="Arial"/>
                <a:ea typeface="Arial"/>
                <a:cs typeface="Arial"/>
              </a:rPr>
              <a:t>199 000 сум / месяц</a:t>
            </a:r>
          </a:p>
        </p:txBody>
      </p:sp>
      <p:sp>
        <p:nvSpPr>
          <p:cNvPr id="6" name="">
            <a:extLst xmlns:a="http://schemas.openxmlformats.org/drawingml/2006/main">
              <a:ext uri="{FF2B5EF4-FFF2-40B4-BE49-F238E27FC236}">
                <a16:creationId xmlns:a16="http://schemas.microsoft.com/office/drawing/2014/main" id="{D0B5E29F-FA27-4CB2-B55F-1A8C78B6D4B0}"/>
              </a:ext>
            </a:extLst>
          </p:cNvPr>
          <p:cNvSpPr>
            <a:spLocks xmlns:a="http://schemas.openxmlformats.org/drawingml/2006/main" noGrp="1"/>
          </p:cNvSpPr>
          <p:nvPr/>
        </p:nvSpPr>
        <p:spPr>
          <a:xfrm xmlns:a="http://schemas.openxmlformats.org/drawingml/2006/main">
            <a:off x="609600" y="2914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667085"/>
                </a:solidFill>
                <a:latin typeface="Arial"/>
                <a:ea typeface="Arial"/>
                <a:cs typeface="Arial"/>
              </a:defRPr>
            </a:defPPr>
          </a:lstStyle>
          <a:p xmlns:a="http://schemas.openxmlformats.org/drawingml/2006/main">
            <a:pPr>
              <a:defRPr sz="1875" b="0">
                <a:solidFill>
                  <a:srgbClr val="667085"/>
                </a:solidFill>
                <a:latin typeface="Arial"/>
                <a:ea typeface="Arial"/>
                <a:cs typeface="Arial"/>
              </a:defRPr>
            </a:pPr>
            <a:r>
              <a:rPr sz="1875" b="0">
                <a:solidFill>
                  <a:srgbClr val="667085"/>
                </a:solidFill>
                <a:latin typeface="Arial"/>
                <a:ea typeface="Arial"/>
                <a:cs typeface="Arial"/>
              </a:rPr>
              <a:t>Цена-гипотеза. Продаж и платных пользователей пока нет.</a:t>
            </a:r>
          </a:p>
        </p:txBody>
      </p:sp>
      <p:sp>
        <p:nvSpPr>
          <p:cNvPr id="7" name="">
            <a:extLst xmlns:a="http://schemas.openxmlformats.org/drawingml/2006/main">
              <a:ext uri="{FF2B5EF4-FFF2-40B4-BE49-F238E27FC236}">
                <a16:creationId xmlns:a16="http://schemas.microsoft.com/office/drawing/2014/main" id="{8D8CAF99-F130-4A32-87E0-ACC9AA60AE85}"/>
              </a:ext>
            </a:extLst>
          </p:cNvPr>
          <p:cNvSpPr>
            <a:spLocks xmlns:a="http://schemas.openxmlformats.org/drawingml/2006/main" noGrp="1"/>
          </p:cNvSpPr>
          <p:nvPr/>
        </p:nvSpPr>
        <p:spPr>
          <a:xfrm xmlns:a="http://schemas.openxmlformats.org/drawingml/2006/main">
            <a:off x="609600"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Найти участников</a:t>
            </a:r>
          </a:p>
        </p:txBody>
      </p:sp>
      <p:sp>
        <p:nvSpPr>
          <p:cNvPr id="8" name="">
            <a:extLst xmlns:a="http://schemas.openxmlformats.org/drawingml/2006/main">
              <a:ext uri="{FF2B5EF4-FFF2-40B4-BE49-F238E27FC236}">
                <a16:creationId xmlns:a16="http://schemas.microsoft.com/office/drawing/2014/main" id="{90F07643-2EA3-42BD-9D2A-ACC48F6BBE14}"/>
              </a:ext>
            </a:extLst>
          </p:cNvPr>
          <p:cNvSpPr>
            <a:spLocks xmlns:a="http://schemas.openxmlformats.org/drawingml/2006/main" noGrp="1"/>
          </p:cNvSpPr>
          <p:nvPr/>
        </p:nvSpPr>
        <p:spPr>
          <a:xfrm xmlns:a="http://schemas.openxmlformats.org/drawingml/2006/main">
            <a:off x="609600" y="4457700"/>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15–20 мастерских для контакта</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3–5 мастерских для пилота</a:t>
            </a:r>
          </a:p>
        </p:txBody>
      </p:sp>
      <p:sp>
        <p:nvSpPr>
          <p:cNvPr id="9" name="">
            <a:extLst xmlns:a="http://schemas.openxmlformats.org/drawingml/2006/main">
              <a:ext uri="{FF2B5EF4-FFF2-40B4-BE49-F238E27FC236}">
                <a16:creationId xmlns:a16="http://schemas.microsoft.com/office/drawing/2014/main" id="{FBB508E0-641A-4D95-B31C-5CD88FE93A2F}"/>
              </a:ext>
            </a:extLst>
          </p:cNvPr>
          <p:cNvSpPr>
            <a:spLocks xmlns:a="http://schemas.openxmlformats.org/drawingml/2006/main" noGrp="1"/>
          </p:cNvSpPr>
          <p:nvPr/>
        </p:nvSpPr>
        <p:spPr>
          <a:xfrm xmlns:a="http://schemas.openxmlformats.org/drawingml/2006/main">
            <a:off x="4429125"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Провести пилот</a:t>
            </a:r>
          </a:p>
        </p:txBody>
      </p:sp>
      <p:sp>
        <p:nvSpPr>
          <p:cNvPr id="10" name="">
            <a:extLst xmlns:a="http://schemas.openxmlformats.org/drawingml/2006/main">
              <a:ext uri="{FF2B5EF4-FFF2-40B4-BE49-F238E27FC236}">
                <a16:creationId xmlns:a16="http://schemas.microsoft.com/office/drawing/2014/main" id="{98B58689-8C2C-44A2-9F12-587AC93135CA}"/>
              </a:ext>
            </a:extLst>
          </p:cNvPr>
          <p:cNvSpPr>
            <a:spLocks xmlns:a="http://schemas.openxmlformats.org/drawingml/2006/main" noGrp="1"/>
          </p:cNvSpPr>
          <p:nvPr/>
        </p:nvSpPr>
        <p:spPr>
          <a:xfrm xmlns:a="http://schemas.openxmlformats.org/drawingml/2006/main">
            <a:off x="4429125" y="4457700"/>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Две недели использования</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Помощь с первой сметой</a:t>
            </a:r>
          </a:p>
        </p:txBody>
      </p:sp>
      <p:sp>
        <p:nvSpPr>
          <p:cNvPr id="11" name="">
            <a:extLst xmlns:a="http://schemas.openxmlformats.org/drawingml/2006/main">
              <a:ext uri="{FF2B5EF4-FFF2-40B4-BE49-F238E27FC236}">
                <a16:creationId xmlns:a16="http://schemas.microsoft.com/office/drawing/2014/main" id="{671F0DFE-2847-4CE0-98CE-08215D22AC69}"/>
              </a:ext>
            </a:extLst>
          </p:cNvPr>
          <p:cNvSpPr>
            <a:spLocks xmlns:a="http://schemas.openxmlformats.org/drawingml/2006/main" noGrp="1"/>
          </p:cNvSpPr>
          <p:nvPr/>
        </p:nvSpPr>
        <p:spPr>
          <a:xfrm xmlns:a="http://schemas.openxmlformats.org/drawingml/2006/main">
            <a:off x="8248650"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Проверить оплату</a:t>
            </a:r>
          </a:p>
        </p:txBody>
      </p:sp>
      <p:sp>
        <p:nvSpPr>
          <p:cNvPr id="12" name="">
            <a:extLst xmlns:a="http://schemas.openxmlformats.org/drawingml/2006/main">
              <a:ext uri="{FF2B5EF4-FFF2-40B4-BE49-F238E27FC236}">
                <a16:creationId xmlns:a16="http://schemas.microsoft.com/office/drawing/2014/main" id="{1F2661AE-6615-4127-839D-7C1D212E464A}"/>
              </a:ext>
            </a:extLst>
          </p:cNvPr>
          <p:cNvSpPr>
            <a:spLocks xmlns:a="http://schemas.openxmlformats.org/drawingml/2006/main" noGrp="1"/>
          </p:cNvSpPr>
          <p:nvPr/>
        </p:nvSpPr>
        <p:spPr>
          <a:xfrm xmlns:a="http://schemas.openxmlformats.org/drawingml/2006/main">
            <a:off x="8248650" y="4457700"/>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Предложить платное продолжение</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Записать причины решения</a:t>
            </a:r>
          </a:p>
        </p:txBody>
      </p:sp>
    </p:spTree>
    <p:extLst>
      <p:ext uri="{BB962C8B-B14F-4D97-AF65-F5344CB8AC3E}">
        <p14:creationId xmlns:p14="http://schemas.microsoft.com/office/powerpoint/2010/main" val="761818973"/>
      </p:ext>
    </p:extLst>
  </p:cSld>
</p:sld>
</file>

<file path=ppt/slides/slide1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A45568-A2E4-4101-98DB-FEAA8329FC0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033"/>
                </a:solidFill>
                <a:latin typeface="Arial"/>
                <a:ea typeface="Arial"/>
                <a:cs typeface="Arial"/>
              </a:defRPr>
            </a:def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Запуск и подтверждённый результат</a:t>
            </a:r>
          </a:p>
        </p:txBody>
      </p:sp>
      <p:sp>
        <p:nvSpPr>
          <p:cNvPr id="2" name="">
            <a:extLst xmlns:a="http://schemas.openxmlformats.org/drawingml/2006/main">
              <a:ext uri="{FF2B5EF4-FFF2-40B4-BE49-F238E27FC236}">
                <a16:creationId xmlns:a16="http://schemas.microsoft.com/office/drawing/2014/main" id="{62E35794-F6AA-4286-B359-E5D8EF0CAD1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69404E-DCD0-4B20-8795-2EE8C03FB064}"/>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Согласовано</a:t>
            </a:r>
          </a:p>
        </p:txBody>
      </p:sp>
      <p:sp>
        <p:nvSpPr>
          <p:cNvPr id="4" name="">
            <a:extLst xmlns:a="http://schemas.openxmlformats.org/drawingml/2006/main">
              <a:ext uri="{FF2B5EF4-FFF2-40B4-BE49-F238E27FC236}">
                <a16:creationId xmlns:a16="http://schemas.microsoft.com/office/drawing/2014/main" id="{7398DEB7-435D-4B97-AB9B-04E66A2282D7}"/>
              </a:ext>
            </a:extLst>
          </p:cNvPr>
          <p:cNvSpPr>
            <a:spLocks xmlns:a="http://schemas.openxmlformats.org/drawingml/2006/main" noGrp="1"/>
          </p:cNvSpPr>
          <p:nvPr/>
        </p:nvSpPr>
        <p:spPr>
          <a:xfrm xmlns:a="http://schemas.openxmlformats.org/drawingml/2006/main">
            <a:off x="11049000" y="63912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67085"/>
                </a:solidFill>
                <a:latin typeface="Arial"/>
                <a:ea typeface="Arial"/>
                <a:cs typeface="Arial"/>
              </a:defRPr>
            </a:defPPr>
          </a:lstStyle>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8DEE993-4078-4E39-A307-1BF7940A6EE9}"/>
              </a:ext>
            </a:extLst>
          </p:cNvPr>
          <p:cNvSpPr>
            <a:spLocks xmlns:a="http://schemas.openxmlformats.org/drawingml/2006/main" noGrp="1"/>
          </p:cNvSpPr>
          <p:nvPr/>
        </p:nvSpPr>
        <p:spPr>
          <a:xfrm xmlns:a="http://schemas.openxmlformats.org/drawingml/2006/main">
            <a:off x="609600" y="1866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2563EB"/>
                </a:solidFill>
                <a:latin typeface="Arial"/>
                <a:ea typeface="Arial"/>
                <a:cs typeface="Arial"/>
              </a:defRPr>
            </a:defPPr>
          </a:lstStyle>
          <a:p xmlns:a="http://schemas.openxmlformats.org/drawingml/2006/main">
            <a:pPr>
              <a:defRPr sz="2625" b="1">
                <a:solidFill>
                  <a:srgbClr val="2563EB"/>
                </a:solidFill>
                <a:latin typeface="Arial"/>
                <a:ea typeface="Arial"/>
                <a:cs typeface="Arial"/>
              </a:defRPr>
            </a:pPr>
            <a:r>
              <a:rPr sz="2625" b="1">
                <a:solidFill>
                  <a:srgbClr val="2563EB"/>
                </a:solidFill>
                <a:latin typeface="Arial"/>
                <a:ea typeface="Arial"/>
                <a:cs typeface="Arial"/>
              </a:rPr>
              <a:t>Windows: START-DEMO.cmd</a:t>
            </a:r>
          </a:p>
          <a:p xmlns:a="http://schemas.openxmlformats.org/drawingml/2006/main">
            <a:pPr>
              <a:defRPr sz="2625" b="1">
                <a:solidFill>
                  <a:srgbClr val="2563EB"/>
                </a:solidFill>
                <a:latin typeface="Arial"/>
                <a:ea typeface="Arial"/>
                <a:cs typeface="Arial"/>
              </a:defRPr>
            </a:pPr>
            <a:r>
              <a:rPr sz="2625" b="1">
                <a:solidFill>
                  <a:srgbClr val="2563EB"/>
                </a:solidFill>
                <a:latin typeface="Arial"/>
                <a:ea typeface="Arial"/>
                <a:cs typeface="Arial"/>
              </a:rPr>
              <a:t>Другие системы: npm run demo</a:t>
            </a:r>
          </a:p>
        </p:txBody>
      </p:sp>
      <p:sp>
        <p:nvSpPr>
          <p:cNvPr id="6" name="">
            <a:extLst xmlns:a="http://schemas.openxmlformats.org/drawingml/2006/main">
              <a:ext uri="{FF2B5EF4-FFF2-40B4-BE49-F238E27FC236}">
                <a16:creationId xmlns:a16="http://schemas.microsoft.com/office/drawing/2014/main" id="{5749C2F4-6F88-471C-A334-FF375BD6301C}"/>
              </a:ext>
            </a:extLst>
          </p:cNvPr>
          <p:cNvSpPr>
            <a:spLocks xmlns:a="http://schemas.openxmlformats.org/drawingml/2006/main" noGrp="1"/>
          </p:cNvSpPr>
          <p:nvPr/>
        </p:nvSpPr>
        <p:spPr>
          <a:xfrm xmlns:a="http://schemas.openxmlformats.org/drawingml/2006/main">
            <a:off x="609600" y="31337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033"/>
                </a:solidFill>
                <a:latin typeface="Arial"/>
                <a:ea typeface="Arial"/>
                <a:cs typeface="Arial"/>
              </a:defRPr>
            </a:defPPr>
          </a:lstStyle>
          <a:p xmlns:a="http://schemas.openxmlformats.org/drawingml/2006/main">
            <a:pPr>
              <a:defRPr sz="2025" b="0">
                <a:solidFill>
                  <a:srgbClr val="172033"/>
                </a:solidFill>
                <a:latin typeface="Arial"/>
                <a:ea typeface="Arial"/>
                <a:cs typeface="Arial"/>
              </a:defRPr>
            </a:pPr>
            <a:r>
              <a:rPr sz="2025" b="0">
                <a:solidFill>
                  <a:srgbClr val="172033"/>
                </a:solidFill>
                <a:latin typeface="Arial"/>
                <a:ea typeface="Arial"/>
                <a:cs typeface="Arial"/>
              </a:rPr>
              <a:t>Открыть http://localhost:3077</a:t>
            </a:r>
          </a:p>
          <a:p xmlns:a="http://schemas.openxmlformats.org/drawingml/2006/main">
            <a:pPr>
              <a:defRPr sz="2025" b="0">
                <a:solidFill>
                  <a:srgbClr val="172033"/>
                </a:solidFill>
                <a:latin typeface="Arial"/>
                <a:ea typeface="Arial"/>
                <a:cs typeface="Arial"/>
              </a:defRPr>
            </a:pPr>
            <a:r>
              <a:rPr sz="2025" b="0">
                <a:solidFill>
                  <a:srgbClr val="172033"/>
                </a:solidFill>
                <a:latin typeface="Arial"/>
                <a:ea typeface="Arial"/>
                <a:cs typeface="Arial"/>
              </a:rPr>
              <a:t>Демо-вход хранится в .local/demo-credentials.json</a:t>
            </a:r>
          </a:p>
        </p:txBody>
      </p:sp>
      <p:sp>
        <p:nvSpPr>
          <p:cNvPr id="7" name="">
            <a:extLst xmlns:a="http://schemas.openxmlformats.org/drawingml/2006/main">
              <a:ext uri="{FF2B5EF4-FFF2-40B4-BE49-F238E27FC236}">
                <a16:creationId xmlns:a16="http://schemas.microsoft.com/office/drawing/2014/main" id="{AC396B09-7773-4172-9BD6-9ED59724C50B}"/>
              </a:ext>
            </a:extLst>
          </p:cNvPr>
          <p:cNvSpPr>
            <a:spLocks xmlns:a="http://schemas.openxmlformats.org/drawingml/2006/main" noGrp="1"/>
          </p:cNvSpPr>
          <p:nvPr/>
        </p:nvSpPr>
        <p:spPr>
          <a:xfrm xmlns:a="http://schemas.openxmlformats.org/drawingml/2006/main">
            <a:off x="609600" y="44672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Проверки</a:t>
            </a:r>
          </a:p>
        </p:txBody>
      </p:sp>
      <p:sp>
        <p:nvSpPr>
          <p:cNvPr id="8" name="">
            <a:extLst xmlns:a="http://schemas.openxmlformats.org/drawingml/2006/main">
              <a:ext uri="{FF2B5EF4-FFF2-40B4-BE49-F238E27FC236}">
                <a16:creationId xmlns:a16="http://schemas.microsoft.com/office/drawing/2014/main" id="{C5A88E68-FE92-4E96-AF73-F0D15D5FA6E0}"/>
              </a:ext>
            </a:extLst>
          </p:cNvPr>
          <p:cNvSpPr>
            <a:spLocks xmlns:a="http://schemas.openxmlformats.org/drawingml/2006/main" noGrp="1"/>
          </p:cNvSpPr>
          <p:nvPr/>
        </p:nvSpPr>
        <p:spPr>
          <a:xfrm xmlns:a="http://schemas.openxmlformats.org/drawingml/2006/main">
            <a:off x="609600" y="50577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21 модульный тест</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10 тестов PostgreSQL</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2 сквозные проверки</a:t>
            </a:r>
          </a:p>
        </p:txBody>
      </p:sp>
      <p:sp>
        <p:nvSpPr>
          <p:cNvPr id="9" name="">
            <a:extLst xmlns:a="http://schemas.openxmlformats.org/drawingml/2006/main">
              <a:ext uri="{FF2B5EF4-FFF2-40B4-BE49-F238E27FC236}">
                <a16:creationId xmlns:a16="http://schemas.microsoft.com/office/drawing/2014/main" id="{F4A19B39-62A9-4651-942B-11B768EE9D3D}"/>
              </a:ext>
            </a:extLst>
          </p:cNvPr>
          <p:cNvSpPr>
            <a:spLocks xmlns:a="http://schemas.openxmlformats.org/drawingml/2006/main" noGrp="1"/>
          </p:cNvSpPr>
          <p:nvPr/>
        </p:nvSpPr>
        <p:spPr>
          <a:xfrm xmlns:a="http://schemas.openxmlformats.org/drawingml/2006/main">
            <a:off x="4429125" y="44672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Сохранность</a:t>
            </a:r>
          </a:p>
        </p:txBody>
      </p:sp>
      <p:sp>
        <p:nvSpPr>
          <p:cNvPr id="10" name="">
            <a:extLst xmlns:a="http://schemas.openxmlformats.org/drawingml/2006/main">
              <a:ext uri="{FF2B5EF4-FFF2-40B4-BE49-F238E27FC236}">
                <a16:creationId xmlns:a16="http://schemas.microsoft.com/office/drawing/2014/main" id="{B9989B86-B2F8-4915-AC7F-72C9F6DA3AF9}"/>
              </a:ext>
            </a:extLst>
          </p:cNvPr>
          <p:cNvSpPr>
            <a:spLocks xmlns:a="http://schemas.openxmlformats.org/drawingml/2006/main" noGrp="1"/>
          </p:cNvSpPr>
          <p:nvPr/>
        </p:nvSpPr>
        <p:spPr>
          <a:xfrm xmlns:a="http://schemas.openxmlformats.org/drawingml/2006/main">
            <a:off x="4429125" y="50577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Перезапуск базы и приложения</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Версии и ответы сохранены</a:t>
            </a:r>
          </a:p>
        </p:txBody>
      </p:sp>
      <p:sp>
        <p:nvSpPr>
          <p:cNvPr id="11" name="">
            <a:extLst xmlns:a="http://schemas.openxmlformats.org/drawingml/2006/main">
              <a:ext uri="{FF2B5EF4-FFF2-40B4-BE49-F238E27FC236}">
                <a16:creationId xmlns:a16="http://schemas.microsoft.com/office/drawing/2014/main" id="{583D1C37-06D1-4AD1-8A79-85A84FCBFEB9}"/>
              </a:ext>
            </a:extLst>
          </p:cNvPr>
          <p:cNvSpPr>
            <a:spLocks xmlns:a="http://schemas.openxmlformats.org/drawingml/2006/main" noGrp="1"/>
          </p:cNvSpPr>
          <p:nvPr/>
        </p:nvSpPr>
        <p:spPr>
          <a:xfrm xmlns:a="http://schemas.openxmlformats.org/drawingml/2006/main">
            <a:off x="8248650" y="44672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033"/>
                </a:solidFill>
                <a:latin typeface="Arial"/>
                <a:ea typeface="Arial"/>
                <a:cs typeface="Arial"/>
              </a:defRPr>
            </a:defPPr>
          </a:lstStyle>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Границы</a:t>
            </a:r>
          </a:p>
        </p:txBody>
      </p:sp>
      <p:sp>
        <p:nvSpPr>
          <p:cNvPr id="12" name="">
            <a:extLst xmlns:a="http://schemas.openxmlformats.org/drawingml/2006/main">
              <a:ext uri="{FF2B5EF4-FFF2-40B4-BE49-F238E27FC236}">
                <a16:creationId xmlns:a16="http://schemas.microsoft.com/office/drawing/2014/main" id="{93715D7A-E769-4E79-8497-A48357938E5C}"/>
              </a:ext>
            </a:extLst>
          </p:cNvPr>
          <p:cNvSpPr>
            <a:spLocks xmlns:a="http://schemas.openxmlformats.org/drawingml/2006/main" noGrp="1"/>
          </p:cNvSpPr>
          <p:nvPr/>
        </p:nvSpPr>
        <p:spPr>
          <a:xfrm xmlns:a="http://schemas.openxmlformats.org/drawingml/2006/main">
            <a:off x="8248650" y="5057775"/>
            <a:ext cx="333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AI без реального ключа</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Без публичного размещения</a:t>
            </a:r>
          </a:p>
        </p:txBody>
      </p:sp>
    </p:spTree>
    <p:extLst>
      <p:ext uri="{BB962C8B-B14F-4D97-AF65-F5344CB8AC3E}">
        <p14:creationId xmlns:p14="http://schemas.microsoft.com/office/powerpoint/2010/main" val="1982864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2026-10-13T09:59:43.0400000Z</dcterms:created>
  <dcterms:modified xsi:type="dcterms:W3CDTF">2026-10-13T09:59:43.0400000Z</dcterms:modified>
</coreProperties>
</file>